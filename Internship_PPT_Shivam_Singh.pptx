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42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0692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9.png"/><Relationship Id="rId4" Type="http://schemas.openxmlformats.org/officeDocument/2006/relationships/image" Target="../media/image21.png"/><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4.png"/><Relationship Id="rId9" Type="http://schemas.openxmlformats.org/officeDocument/2006/relationships/image" Target="../media/image2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30.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828800"/>
            <a:ext cx="5943600" cy="5943600"/>
          </a:xfrm>
          <a:prstGeom prst="ellipse">
            <a:avLst/>
          </a:prstGeom>
          <a:solidFill>
            <a:srgbClr val="161C4D"/>
          </a:solidFill>
          <a:ln/>
        </p:spPr>
      </p:sp>
      <p:sp>
        <p:nvSpPr>
          <p:cNvPr id="3" name="Shape 1"/>
          <p:cNvSpPr/>
          <p:nvPr/>
        </p:nvSpPr>
        <p:spPr>
          <a:xfrm>
            <a:off x="11247120" y="2743200"/>
            <a:ext cx="4206240" cy="4206240"/>
          </a:xfrm>
          <a:prstGeom prst="ellipse">
            <a:avLst/>
          </a:prstGeom>
          <a:solidFill>
            <a:srgbClr val="161C4D"/>
          </a:solidFill>
          <a:ln/>
        </p:spPr>
      </p:sp>
      <p:pic>
        <p:nvPicPr>
          <p:cNvPr id="4" name="Image 0" descr="/home/claude/docx_extract/extracted/word/media/image1.png"/>
          <p:cNvPicPr>
            <a:picLocks noChangeAspect="1"/>
          </p:cNvPicPr>
          <p:nvPr/>
        </p:nvPicPr>
        <p:blipFill>
          <a:blip r:embed="rId3"/>
          <a:stretch>
            <a:fillRect/>
          </a:stretch>
        </p:blipFill>
        <p:spPr>
          <a:xfrm>
            <a:off x="502920" y="457200"/>
            <a:ext cx="502920" cy="566928"/>
          </a:xfrm>
          <a:prstGeom prst="rect">
            <a:avLst/>
          </a:prstGeom>
        </p:spPr>
      </p:pic>
      <p:sp>
        <p:nvSpPr>
          <p:cNvPr id="5" name="Text 2"/>
          <p:cNvSpPr/>
          <p:nvPr/>
        </p:nvSpPr>
        <p:spPr>
          <a:xfrm>
            <a:off x="1143000" y="502920"/>
            <a:ext cx="5486400" cy="457200"/>
          </a:xfrm>
          <a:prstGeom prst="rect">
            <a:avLst/>
          </a:prstGeom>
          <a:noFill/>
          <a:ln/>
        </p:spPr>
        <p:txBody>
          <a:bodyPr wrap="square"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IILM UNIVERSITY, GREATER NOIDA</a:t>
            </a:r>
            <a:endParaRPr lang="en-US" sz="1300" dirty="0"/>
          </a:p>
        </p:txBody>
      </p:sp>
      <p:sp>
        <p:nvSpPr>
          <p:cNvPr id="6" name="Text 3"/>
          <p:cNvSpPr/>
          <p:nvPr/>
        </p:nvSpPr>
        <p:spPr>
          <a:xfrm>
            <a:off x="548640" y="1874520"/>
            <a:ext cx="7315200" cy="365760"/>
          </a:xfrm>
          <a:prstGeom prst="rect">
            <a:avLst/>
          </a:prstGeom>
          <a:noFill/>
          <a:ln/>
        </p:spPr>
        <p:txBody>
          <a:bodyPr wrap="square" rtlCol="0" anchor="ctr"/>
          <a:lstStyle/>
          <a:p>
            <a:pPr marL="0" indent="0">
              <a:buNone/>
            </a:pPr>
            <a:r>
              <a:rPr lang="en-US" sz="1200" b="1" kern="0" spc="200" dirty="0">
                <a:solidFill>
                  <a:srgbClr val="E8A93B"/>
                </a:solidFill>
                <a:latin typeface="Calibri" pitchFamily="34" charset="0"/>
                <a:ea typeface="Calibri" pitchFamily="34" charset="-122"/>
                <a:cs typeface="Calibri" pitchFamily="34" charset="-120"/>
              </a:rPr>
              <a:t>INTERNSHIP REPORT PRESENTATION</a:t>
            </a:r>
            <a:endParaRPr lang="en-US" sz="1200" dirty="0"/>
          </a:p>
        </p:txBody>
      </p:sp>
      <p:sp>
        <p:nvSpPr>
          <p:cNvPr id="7" name="Text 4"/>
          <p:cNvSpPr/>
          <p:nvPr/>
        </p:nvSpPr>
        <p:spPr>
          <a:xfrm>
            <a:off x="530352" y="2240280"/>
            <a:ext cx="9601200" cy="100584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Student Result Processing System</a:t>
            </a:r>
            <a:endParaRPr lang="en-US" sz="4400" dirty="0"/>
          </a:p>
        </p:txBody>
      </p:sp>
      <p:sp>
        <p:nvSpPr>
          <p:cNvPr id="8" name="Text 5"/>
          <p:cNvSpPr/>
          <p:nvPr/>
        </p:nvSpPr>
        <p:spPr>
          <a:xfrm>
            <a:off x="548640" y="3200400"/>
            <a:ext cx="8686800" cy="548640"/>
          </a:xfrm>
          <a:prstGeom prst="rect">
            <a:avLst/>
          </a:prstGeom>
          <a:noFill/>
          <a:ln/>
        </p:spPr>
        <p:txBody>
          <a:bodyPr wrap="square" rtlCol="0" anchor="ctr"/>
          <a:lstStyle/>
          <a:p>
            <a:pPr marL="0" indent="0">
              <a:buNone/>
            </a:pPr>
            <a:r>
              <a:rPr lang="en-US" sz="2600" dirty="0">
                <a:solidFill>
                  <a:srgbClr val="CADCFC"/>
                </a:solidFill>
                <a:latin typeface="Cambria" pitchFamily="34" charset="0"/>
                <a:ea typeface="Cambria" pitchFamily="34" charset="-122"/>
                <a:cs typeface="Cambria" pitchFamily="34" charset="-120"/>
              </a:rPr>
              <a:t>Java Full Stack Development Internship</a:t>
            </a:r>
            <a:endParaRPr lang="en-US" sz="2600" dirty="0"/>
          </a:p>
        </p:txBody>
      </p:sp>
      <p:sp>
        <p:nvSpPr>
          <p:cNvPr id="9" name="Text 6"/>
          <p:cNvSpPr/>
          <p:nvPr/>
        </p:nvSpPr>
        <p:spPr>
          <a:xfrm>
            <a:off x="548640" y="3794760"/>
            <a:ext cx="9601200" cy="365760"/>
          </a:xfrm>
          <a:prstGeom prst="rect">
            <a:avLst/>
          </a:prstGeom>
          <a:noFill/>
          <a:ln/>
        </p:spPr>
        <p:txBody>
          <a:bodyPr wrap="square"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AICTE – EduSkills Virtual Internship Program  |  Java Full Stack Development With Project</a:t>
            </a:r>
            <a:endParaRPr lang="en-US" sz="1300" dirty="0"/>
          </a:p>
        </p:txBody>
      </p:sp>
      <p:sp>
        <p:nvSpPr>
          <p:cNvPr id="10" name="Shape 7"/>
          <p:cNvSpPr/>
          <p:nvPr/>
        </p:nvSpPr>
        <p:spPr>
          <a:xfrm>
            <a:off x="548640" y="4434840"/>
            <a:ext cx="1188720" cy="0"/>
          </a:xfrm>
          <a:prstGeom prst="line">
            <a:avLst/>
          </a:prstGeom>
          <a:noFill/>
          <a:ln w="31750">
            <a:solidFill>
              <a:srgbClr val="E8A93B"/>
            </a:solidFill>
            <a:prstDash val="solid"/>
          </a:ln>
        </p:spPr>
      </p:sp>
      <p:sp>
        <p:nvSpPr>
          <p:cNvPr id="11" name="Text 8"/>
          <p:cNvSpPr/>
          <p:nvPr/>
        </p:nvSpPr>
        <p:spPr>
          <a:xfrm>
            <a:off x="548640" y="4663440"/>
            <a:ext cx="5486400" cy="36576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Shivam Singh</a:t>
            </a:r>
            <a:endParaRPr lang="en-US" sz="1800" dirty="0"/>
          </a:p>
        </p:txBody>
      </p:sp>
      <p:sp>
        <p:nvSpPr>
          <p:cNvPr id="12" name="Text 9"/>
          <p:cNvSpPr/>
          <p:nvPr/>
        </p:nvSpPr>
        <p:spPr>
          <a:xfrm>
            <a:off x="548640" y="5029200"/>
            <a:ext cx="5486400" cy="292608"/>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Roll No. 2410030363  |  B.Tech CSE</a:t>
            </a:r>
            <a:endParaRPr lang="en-US" sz="1200" dirty="0"/>
          </a:p>
        </p:txBody>
      </p:sp>
      <p:sp>
        <p:nvSpPr>
          <p:cNvPr id="13" name="Text 10"/>
          <p:cNvSpPr/>
          <p:nvPr/>
        </p:nvSpPr>
        <p:spPr>
          <a:xfrm>
            <a:off x="548640" y="5285232"/>
            <a:ext cx="5486400" cy="292608"/>
          </a:xfrm>
          <a:prstGeom prst="rect">
            <a:avLst/>
          </a:prstGeom>
          <a:noFill/>
          <a:ln/>
        </p:spPr>
        <p:txBody>
          <a:bodyPr wrap="square" rtlCol="0" anchor="ctr"/>
          <a:lstStyle/>
          <a:p>
            <a:pPr marL="0" indent="0">
              <a:buNone/>
            </a:pPr>
            <a:r>
              <a:rPr lang="en-US" sz="1200" dirty="0">
                <a:solidFill>
                  <a:srgbClr val="CADCFC"/>
                </a:solidFill>
                <a:latin typeface="Calibri" pitchFamily="34" charset="0"/>
                <a:ea typeface="Calibri" pitchFamily="34" charset="-122"/>
                <a:cs typeface="Calibri" pitchFamily="34" charset="-120"/>
              </a:rPr>
              <a:t>June –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rgbClr val="1E2761"/>
          </a:solidFill>
          <a:ln/>
        </p:spPr>
      </p:sp>
      <p:sp>
        <p:nvSpPr>
          <p:cNvPr id="3" name="Shape 1"/>
          <p:cNvSpPr/>
          <p:nvPr/>
        </p:nvSpPr>
        <p:spPr>
          <a:xfrm>
            <a:off x="-1280160" y="5120640"/>
            <a:ext cx="3291840" cy="3291840"/>
          </a:xfrm>
          <a:prstGeom prst="ellipse">
            <a:avLst/>
          </a:prstGeom>
          <a:solidFill>
            <a:srgbClr val="161C4D"/>
          </a:solidFill>
          <a:ln/>
        </p:spPr>
      </p:sp>
      <p:sp>
        <p:nvSpPr>
          <p:cNvPr id="4" name="Shape 2"/>
          <p:cNvSpPr/>
          <p:nvPr/>
        </p:nvSpPr>
        <p:spPr>
          <a:xfrm>
            <a:off x="1600200" y="914400"/>
            <a:ext cx="1005840" cy="1005840"/>
          </a:xfrm>
          <a:prstGeom prst="ellipse">
            <a:avLst/>
          </a:prstGeom>
          <a:solidFill>
            <a:srgbClr val="161C4D"/>
          </a:solidFill>
          <a:ln/>
        </p:spPr>
      </p:sp>
      <p:pic>
        <p:nvPicPr>
          <p:cNvPr id="5" name="Image 0" descr="/home/claude/icons/gradcap_white.png"/>
          <p:cNvPicPr>
            <a:picLocks noChangeAspect="1"/>
          </p:cNvPicPr>
          <p:nvPr/>
        </p:nvPicPr>
        <p:blipFill>
          <a:blip r:embed="rId3"/>
          <a:stretch>
            <a:fillRect/>
          </a:stretch>
        </p:blipFill>
        <p:spPr>
          <a:xfrm>
            <a:off x="1861718" y="1175918"/>
            <a:ext cx="482803" cy="482803"/>
          </a:xfrm>
          <a:prstGeom prst="rect">
            <a:avLst/>
          </a:prstGeom>
        </p:spPr>
      </p:pic>
      <p:sp>
        <p:nvSpPr>
          <p:cNvPr id="6" name="Text 3"/>
          <p:cNvSpPr/>
          <p:nvPr/>
        </p:nvSpPr>
        <p:spPr>
          <a:xfrm>
            <a:off x="365760" y="2148840"/>
            <a:ext cx="3108960" cy="1051560"/>
          </a:xfrm>
          <a:prstGeom prst="rect">
            <a:avLst/>
          </a:prstGeom>
          <a:noFill/>
          <a:ln/>
        </p:spPr>
        <p:txBody>
          <a:bodyPr wrap="square"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Shivam</a:t>
            </a:r>
            <a:endParaRPr lang="en-US" sz="2800" dirty="0"/>
          </a:p>
          <a:p>
            <a:pPr marL="0" indent="0" algn="ctr">
              <a:buNone/>
            </a:pPr>
            <a:r>
              <a:rPr lang="en-US" sz="2800" b="1" dirty="0">
                <a:solidFill>
                  <a:srgbClr val="FFFFFF"/>
                </a:solidFill>
                <a:latin typeface="Cambria" pitchFamily="34" charset="0"/>
                <a:ea typeface="Cambria" pitchFamily="34" charset="-122"/>
                <a:cs typeface="Cambria" pitchFamily="34" charset="-120"/>
              </a:rPr>
              <a:t>Singh</a:t>
            </a:r>
            <a:endParaRPr lang="en-US" sz="2800" dirty="0"/>
          </a:p>
        </p:txBody>
      </p:sp>
      <p:sp>
        <p:nvSpPr>
          <p:cNvPr id="7" name="Text 4"/>
          <p:cNvSpPr/>
          <p:nvPr/>
        </p:nvSpPr>
        <p:spPr>
          <a:xfrm>
            <a:off x="365760" y="3246120"/>
            <a:ext cx="3108960" cy="45720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B.Tech – Computer Science &amp; Engineering</a:t>
            </a:r>
            <a:endParaRPr lang="en-US" sz="1200" dirty="0"/>
          </a:p>
        </p:txBody>
      </p:sp>
      <p:sp>
        <p:nvSpPr>
          <p:cNvPr id="8" name="Text 5"/>
          <p:cNvSpPr/>
          <p:nvPr/>
        </p:nvSpPr>
        <p:spPr>
          <a:xfrm>
            <a:off x="4297680" y="502920"/>
            <a:ext cx="5486400" cy="320040"/>
          </a:xfrm>
          <a:prstGeom prst="rect">
            <a:avLst/>
          </a:prstGeom>
          <a:noFill/>
          <a:ln/>
        </p:spPr>
        <p:txBody>
          <a:bodyPr wrap="square" rtlCol="0" anchor="ctr"/>
          <a:lstStyle/>
          <a:p>
            <a:pPr marL="0" indent="0">
              <a:buNone/>
            </a:pPr>
            <a:r>
              <a:rPr lang="en-US" sz="1200" b="1" kern="0" spc="200" dirty="0">
                <a:solidFill>
                  <a:srgbClr val="E8A93B"/>
                </a:solidFill>
                <a:latin typeface="Calibri" pitchFamily="34" charset="0"/>
                <a:ea typeface="Calibri" pitchFamily="34" charset="-122"/>
                <a:cs typeface="Calibri" pitchFamily="34" charset="-120"/>
              </a:rPr>
              <a:t>ABOUT THE STUDENT</a:t>
            </a:r>
            <a:endParaRPr lang="en-US" sz="1200" dirty="0"/>
          </a:p>
        </p:txBody>
      </p:sp>
      <p:sp>
        <p:nvSpPr>
          <p:cNvPr id="9" name="Text 6"/>
          <p:cNvSpPr/>
          <p:nvPr/>
        </p:nvSpPr>
        <p:spPr>
          <a:xfrm>
            <a:off x="4279392" y="777240"/>
            <a:ext cx="6858000" cy="640080"/>
          </a:xfrm>
          <a:prstGeom prst="rect">
            <a:avLst/>
          </a:prstGeom>
          <a:noFill/>
          <a:ln/>
        </p:spPr>
        <p:txBody>
          <a:bodyPr wrap="square" rtlCol="0" anchor="ctr"/>
          <a:lstStyle/>
          <a:p>
            <a:pPr marL="0" indent="0">
              <a:buNone/>
            </a:pPr>
            <a:r>
              <a:rPr lang="en-US" sz="3200" b="1" dirty="0">
                <a:solidFill>
                  <a:srgbClr val="1A1A2E"/>
                </a:solidFill>
                <a:latin typeface="Cambria" pitchFamily="34" charset="0"/>
                <a:ea typeface="Cambria" pitchFamily="34" charset="-122"/>
                <a:cs typeface="Cambria" pitchFamily="34" charset="-120"/>
              </a:rPr>
              <a:t>Candidate Profile</a:t>
            </a:r>
            <a:endParaRPr lang="en-US" sz="3200" dirty="0"/>
          </a:p>
        </p:txBody>
      </p:sp>
      <p:sp>
        <p:nvSpPr>
          <p:cNvPr id="10" name="Shape 7"/>
          <p:cNvSpPr/>
          <p:nvPr/>
        </p:nvSpPr>
        <p:spPr>
          <a:xfrm>
            <a:off x="4279392" y="1691640"/>
            <a:ext cx="502920" cy="502920"/>
          </a:xfrm>
          <a:prstGeom prst="ellipse">
            <a:avLst/>
          </a:prstGeom>
          <a:solidFill>
            <a:srgbClr val="CADCFC"/>
          </a:solidFill>
          <a:ln/>
        </p:spPr>
      </p:sp>
      <p:pic>
        <p:nvPicPr>
          <p:cNvPr id="11" name="Image 1" descr="/home/claude/icons/idbadge.png"/>
          <p:cNvPicPr>
            <a:picLocks noChangeAspect="1"/>
          </p:cNvPicPr>
          <p:nvPr/>
        </p:nvPicPr>
        <p:blipFill>
          <a:blip r:embed="rId4"/>
          <a:stretch>
            <a:fillRect/>
          </a:stretch>
        </p:blipFill>
        <p:spPr>
          <a:xfrm>
            <a:off x="4410151" y="1822399"/>
            <a:ext cx="241402" cy="241402"/>
          </a:xfrm>
          <a:prstGeom prst="rect">
            <a:avLst/>
          </a:prstGeom>
        </p:spPr>
      </p:pic>
      <p:sp>
        <p:nvSpPr>
          <p:cNvPr id="12" name="Text 8"/>
          <p:cNvSpPr/>
          <p:nvPr/>
        </p:nvSpPr>
        <p:spPr>
          <a:xfrm>
            <a:off x="4983480" y="1691640"/>
            <a:ext cx="6400800" cy="274320"/>
          </a:xfrm>
          <a:prstGeom prst="rect">
            <a:avLst/>
          </a:prstGeom>
          <a:noFill/>
          <a:ln/>
        </p:spPr>
        <p:txBody>
          <a:bodyPr wrap="square"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Roll Number</a:t>
            </a:r>
            <a:endParaRPr lang="en-US" sz="1200" dirty="0"/>
          </a:p>
        </p:txBody>
      </p:sp>
      <p:sp>
        <p:nvSpPr>
          <p:cNvPr id="13" name="Text 9"/>
          <p:cNvSpPr/>
          <p:nvPr/>
        </p:nvSpPr>
        <p:spPr>
          <a:xfrm>
            <a:off x="4983480" y="1947672"/>
            <a:ext cx="6675120" cy="320040"/>
          </a:xfrm>
          <a:prstGeom prst="rect">
            <a:avLst/>
          </a:prstGeom>
          <a:noFill/>
          <a:ln/>
        </p:spPr>
        <p:txBody>
          <a:bodyPr wrap="square" rtlCol="0" anchor="ctr"/>
          <a:lstStyle/>
          <a:p>
            <a:pPr marL="0" indent="0">
              <a:buNone/>
            </a:pPr>
            <a:r>
              <a:rPr lang="en-US" sz="1500" dirty="0">
                <a:solidFill>
                  <a:srgbClr val="1A1A2E"/>
                </a:solidFill>
                <a:latin typeface="Calibri" pitchFamily="34" charset="0"/>
                <a:ea typeface="Calibri" pitchFamily="34" charset="-122"/>
                <a:cs typeface="Calibri" pitchFamily="34" charset="-120"/>
              </a:rPr>
              <a:t>2410030363</a:t>
            </a:r>
            <a:endParaRPr lang="en-US" sz="1500" dirty="0"/>
          </a:p>
        </p:txBody>
      </p:sp>
      <p:sp>
        <p:nvSpPr>
          <p:cNvPr id="14" name="Shape 10"/>
          <p:cNvSpPr/>
          <p:nvPr/>
        </p:nvSpPr>
        <p:spPr>
          <a:xfrm>
            <a:off x="4279392" y="2560320"/>
            <a:ext cx="502920" cy="502920"/>
          </a:xfrm>
          <a:prstGeom prst="ellipse">
            <a:avLst/>
          </a:prstGeom>
          <a:solidFill>
            <a:srgbClr val="CADCFC"/>
          </a:solidFill>
          <a:ln/>
        </p:spPr>
      </p:sp>
      <p:pic>
        <p:nvPicPr>
          <p:cNvPr id="15" name="Image 2" descr="/home/claude/icons/university.png"/>
          <p:cNvPicPr>
            <a:picLocks noChangeAspect="1"/>
          </p:cNvPicPr>
          <p:nvPr/>
        </p:nvPicPr>
        <p:blipFill>
          <a:blip r:embed="rId5"/>
          <a:stretch>
            <a:fillRect/>
          </a:stretch>
        </p:blipFill>
        <p:spPr>
          <a:xfrm>
            <a:off x="4410151" y="2691079"/>
            <a:ext cx="241402" cy="241402"/>
          </a:xfrm>
          <a:prstGeom prst="rect">
            <a:avLst/>
          </a:prstGeom>
        </p:spPr>
      </p:pic>
      <p:sp>
        <p:nvSpPr>
          <p:cNvPr id="16" name="Text 11"/>
          <p:cNvSpPr/>
          <p:nvPr/>
        </p:nvSpPr>
        <p:spPr>
          <a:xfrm>
            <a:off x="4983480" y="2560320"/>
            <a:ext cx="6400800" cy="274320"/>
          </a:xfrm>
          <a:prstGeom prst="rect">
            <a:avLst/>
          </a:prstGeom>
          <a:noFill/>
          <a:ln/>
        </p:spPr>
        <p:txBody>
          <a:bodyPr wrap="square"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Institute</a:t>
            </a:r>
            <a:endParaRPr lang="en-US" sz="1200" dirty="0"/>
          </a:p>
        </p:txBody>
      </p:sp>
      <p:sp>
        <p:nvSpPr>
          <p:cNvPr id="17" name="Text 12"/>
          <p:cNvSpPr/>
          <p:nvPr/>
        </p:nvSpPr>
        <p:spPr>
          <a:xfrm>
            <a:off x="4983480" y="2816352"/>
            <a:ext cx="6675120" cy="320040"/>
          </a:xfrm>
          <a:prstGeom prst="rect">
            <a:avLst/>
          </a:prstGeom>
          <a:noFill/>
          <a:ln/>
        </p:spPr>
        <p:txBody>
          <a:bodyPr wrap="square" rtlCol="0" anchor="ctr"/>
          <a:lstStyle/>
          <a:p>
            <a:pPr marL="0" indent="0">
              <a:buNone/>
            </a:pPr>
            <a:r>
              <a:rPr lang="en-US" sz="1500" dirty="0">
                <a:solidFill>
                  <a:srgbClr val="1A1A2E"/>
                </a:solidFill>
                <a:latin typeface="Calibri" pitchFamily="34" charset="0"/>
                <a:ea typeface="Calibri" pitchFamily="34" charset="-122"/>
                <a:cs typeface="Calibri" pitchFamily="34" charset="-120"/>
              </a:rPr>
              <a:t>IILM University, Greater Noida, U.P.</a:t>
            </a:r>
            <a:endParaRPr lang="en-US" sz="1500" dirty="0"/>
          </a:p>
        </p:txBody>
      </p:sp>
      <p:sp>
        <p:nvSpPr>
          <p:cNvPr id="18" name="Shape 13"/>
          <p:cNvSpPr/>
          <p:nvPr/>
        </p:nvSpPr>
        <p:spPr>
          <a:xfrm>
            <a:off x="4279392" y="3429000"/>
            <a:ext cx="502920" cy="502920"/>
          </a:xfrm>
          <a:prstGeom prst="ellipse">
            <a:avLst/>
          </a:prstGeom>
          <a:solidFill>
            <a:srgbClr val="CADCFC"/>
          </a:solidFill>
          <a:ln/>
        </p:spPr>
      </p:sp>
      <p:pic>
        <p:nvPicPr>
          <p:cNvPr id="19" name="Image 3" descr="/home/claude/icons/gradcap.png"/>
          <p:cNvPicPr>
            <a:picLocks noChangeAspect="1"/>
          </p:cNvPicPr>
          <p:nvPr/>
        </p:nvPicPr>
        <p:blipFill>
          <a:blip r:embed="rId6"/>
          <a:stretch>
            <a:fillRect/>
          </a:stretch>
        </p:blipFill>
        <p:spPr>
          <a:xfrm>
            <a:off x="4410151" y="3559759"/>
            <a:ext cx="241402" cy="241402"/>
          </a:xfrm>
          <a:prstGeom prst="rect">
            <a:avLst/>
          </a:prstGeom>
        </p:spPr>
      </p:pic>
      <p:sp>
        <p:nvSpPr>
          <p:cNvPr id="20" name="Text 14"/>
          <p:cNvSpPr/>
          <p:nvPr/>
        </p:nvSpPr>
        <p:spPr>
          <a:xfrm>
            <a:off x="4983480" y="3429000"/>
            <a:ext cx="6400800" cy="274320"/>
          </a:xfrm>
          <a:prstGeom prst="rect">
            <a:avLst/>
          </a:prstGeom>
          <a:noFill/>
          <a:ln/>
        </p:spPr>
        <p:txBody>
          <a:bodyPr wrap="square"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Programme</a:t>
            </a:r>
            <a:endParaRPr lang="en-US" sz="1200" dirty="0"/>
          </a:p>
        </p:txBody>
      </p:sp>
      <p:sp>
        <p:nvSpPr>
          <p:cNvPr id="21" name="Text 15"/>
          <p:cNvSpPr/>
          <p:nvPr/>
        </p:nvSpPr>
        <p:spPr>
          <a:xfrm>
            <a:off x="4983480" y="3685032"/>
            <a:ext cx="6675120" cy="320040"/>
          </a:xfrm>
          <a:prstGeom prst="rect">
            <a:avLst/>
          </a:prstGeom>
          <a:noFill/>
          <a:ln/>
        </p:spPr>
        <p:txBody>
          <a:bodyPr wrap="square" rtlCol="0" anchor="ctr"/>
          <a:lstStyle/>
          <a:p>
            <a:pPr marL="0" indent="0">
              <a:buNone/>
            </a:pPr>
            <a:r>
              <a:rPr lang="en-US" sz="1500" dirty="0">
                <a:solidFill>
                  <a:srgbClr val="1A1A2E"/>
                </a:solidFill>
                <a:latin typeface="Calibri" pitchFamily="34" charset="0"/>
                <a:ea typeface="Calibri" pitchFamily="34" charset="-122"/>
                <a:cs typeface="Calibri" pitchFamily="34" charset="-120"/>
              </a:rPr>
              <a:t>B.Tech CSE, Batch 2024–2028</a:t>
            </a:r>
            <a:endParaRPr lang="en-US" sz="1500" dirty="0"/>
          </a:p>
        </p:txBody>
      </p:sp>
      <p:sp>
        <p:nvSpPr>
          <p:cNvPr id="22" name="Shape 16"/>
          <p:cNvSpPr/>
          <p:nvPr/>
        </p:nvSpPr>
        <p:spPr>
          <a:xfrm>
            <a:off x="4279392" y="4297680"/>
            <a:ext cx="502920" cy="502920"/>
          </a:xfrm>
          <a:prstGeom prst="ellipse">
            <a:avLst/>
          </a:prstGeom>
          <a:solidFill>
            <a:srgbClr val="CADCFC"/>
          </a:solidFill>
          <a:ln/>
        </p:spPr>
      </p:sp>
      <p:pic>
        <p:nvPicPr>
          <p:cNvPr id="23" name="Image 4" descr="/home/claude/icons/bullseye.png"/>
          <p:cNvPicPr>
            <a:picLocks noChangeAspect="1"/>
          </p:cNvPicPr>
          <p:nvPr/>
        </p:nvPicPr>
        <p:blipFill>
          <a:blip r:embed="rId7"/>
          <a:stretch>
            <a:fillRect/>
          </a:stretch>
        </p:blipFill>
        <p:spPr>
          <a:xfrm>
            <a:off x="4410151" y="4428439"/>
            <a:ext cx="241402" cy="241402"/>
          </a:xfrm>
          <a:prstGeom prst="rect">
            <a:avLst/>
          </a:prstGeom>
        </p:spPr>
      </p:pic>
      <p:sp>
        <p:nvSpPr>
          <p:cNvPr id="24" name="Text 17"/>
          <p:cNvSpPr/>
          <p:nvPr/>
        </p:nvSpPr>
        <p:spPr>
          <a:xfrm>
            <a:off x="4983480" y="4297680"/>
            <a:ext cx="6400800" cy="274320"/>
          </a:xfrm>
          <a:prstGeom prst="rect">
            <a:avLst/>
          </a:prstGeom>
          <a:noFill/>
          <a:ln/>
        </p:spPr>
        <p:txBody>
          <a:bodyPr wrap="square"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Internship Domain</a:t>
            </a:r>
            <a:endParaRPr lang="en-US" sz="1200" dirty="0"/>
          </a:p>
        </p:txBody>
      </p:sp>
      <p:sp>
        <p:nvSpPr>
          <p:cNvPr id="25" name="Text 18"/>
          <p:cNvSpPr/>
          <p:nvPr/>
        </p:nvSpPr>
        <p:spPr>
          <a:xfrm>
            <a:off x="4983480" y="4553712"/>
            <a:ext cx="6675120" cy="320040"/>
          </a:xfrm>
          <a:prstGeom prst="rect">
            <a:avLst/>
          </a:prstGeom>
          <a:noFill/>
          <a:ln/>
        </p:spPr>
        <p:txBody>
          <a:bodyPr wrap="square" rtlCol="0" anchor="ctr"/>
          <a:lstStyle/>
          <a:p>
            <a:pPr marL="0" indent="0">
              <a:buNone/>
            </a:pPr>
            <a:r>
              <a:rPr lang="en-US" sz="1500" dirty="0">
                <a:solidFill>
                  <a:srgbClr val="1A1A2E"/>
                </a:solidFill>
                <a:latin typeface="Calibri" pitchFamily="34" charset="0"/>
                <a:ea typeface="Calibri" pitchFamily="34" charset="-122"/>
                <a:cs typeface="Calibri" pitchFamily="34" charset="-120"/>
              </a:rPr>
              <a:t>Java Full Stack Development With Project</a:t>
            </a:r>
            <a:endParaRPr lang="en-US" sz="1500" dirty="0"/>
          </a:p>
        </p:txBody>
      </p:sp>
      <p:sp>
        <p:nvSpPr>
          <p:cNvPr id="26" name="Shape 19"/>
          <p:cNvSpPr/>
          <p:nvPr/>
        </p:nvSpPr>
        <p:spPr>
          <a:xfrm>
            <a:off x="4279392" y="5166360"/>
            <a:ext cx="502920" cy="502920"/>
          </a:xfrm>
          <a:prstGeom prst="ellipse">
            <a:avLst/>
          </a:prstGeom>
          <a:solidFill>
            <a:srgbClr val="CADCFC"/>
          </a:solidFill>
          <a:ln/>
        </p:spPr>
      </p:sp>
      <p:pic>
        <p:nvPicPr>
          <p:cNvPr id="27" name="Image 5" descr="/home/claude/icons/calendar.png"/>
          <p:cNvPicPr>
            <a:picLocks noChangeAspect="1"/>
          </p:cNvPicPr>
          <p:nvPr/>
        </p:nvPicPr>
        <p:blipFill>
          <a:blip r:embed="rId8"/>
          <a:stretch>
            <a:fillRect/>
          </a:stretch>
        </p:blipFill>
        <p:spPr>
          <a:xfrm>
            <a:off x="4410151" y="5297119"/>
            <a:ext cx="241402" cy="241402"/>
          </a:xfrm>
          <a:prstGeom prst="rect">
            <a:avLst/>
          </a:prstGeom>
        </p:spPr>
      </p:pic>
      <p:sp>
        <p:nvSpPr>
          <p:cNvPr id="28" name="Text 20"/>
          <p:cNvSpPr/>
          <p:nvPr/>
        </p:nvSpPr>
        <p:spPr>
          <a:xfrm>
            <a:off x="4983480" y="5166360"/>
            <a:ext cx="6400800" cy="274320"/>
          </a:xfrm>
          <a:prstGeom prst="rect">
            <a:avLst/>
          </a:prstGeom>
          <a:noFill/>
          <a:ln/>
        </p:spPr>
        <p:txBody>
          <a:bodyPr wrap="square" rtlCol="0" anchor="ctr"/>
          <a:lstStyle/>
          <a:p>
            <a:pPr marL="0" indent="0">
              <a:buNone/>
            </a:pPr>
            <a:r>
              <a:rPr lang="en-US" sz="1200" b="1" dirty="0">
                <a:solidFill>
                  <a:srgbClr val="6B7280"/>
                </a:solidFill>
                <a:latin typeface="Calibri" pitchFamily="34" charset="0"/>
                <a:ea typeface="Calibri" pitchFamily="34" charset="-122"/>
                <a:cs typeface="Calibri" pitchFamily="34" charset="-120"/>
              </a:rPr>
              <a:t>Duration</a:t>
            </a:r>
            <a:endParaRPr lang="en-US" sz="1200" dirty="0"/>
          </a:p>
        </p:txBody>
      </p:sp>
      <p:sp>
        <p:nvSpPr>
          <p:cNvPr id="29" name="Text 21"/>
          <p:cNvSpPr/>
          <p:nvPr/>
        </p:nvSpPr>
        <p:spPr>
          <a:xfrm>
            <a:off x="4983480" y="5422392"/>
            <a:ext cx="6675120" cy="320040"/>
          </a:xfrm>
          <a:prstGeom prst="rect">
            <a:avLst/>
          </a:prstGeom>
          <a:noFill/>
          <a:ln/>
        </p:spPr>
        <p:txBody>
          <a:bodyPr wrap="square" rtlCol="0" anchor="ctr"/>
          <a:lstStyle/>
          <a:p>
            <a:pPr marL="0" indent="0">
              <a:buNone/>
            </a:pPr>
            <a:r>
              <a:rPr lang="en-US" sz="1500" dirty="0">
                <a:solidFill>
                  <a:srgbClr val="1A1A2E"/>
                </a:solidFill>
                <a:latin typeface="Calibri" pitchFamily="34" charset="0"/>
                <a:ea typeface="Calibri" pitchFamily="34" charset="-122"/>
                <a:cs typeface="Calibri" pitchFamily="34" charset="-120"/>
              </a:rPr>
              <a:t>8 Weeks | June – August 2026</a:t>
            </a:r>
            <a:endParaRPr lang="en-US" sz="1500" dirty="0"/>
          </a:p>
        </p:txBody>
      </p:sp>
      <p:sp>
        <p:nvSpPr>
          <p:cNvPr id="30" name="Text 22"/>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Student Result Processing System  •  Shivam Singh</a:t>
            </a:r>
            <a:endParaRPr lang="en-US" sz="1000" dirty="0"/>
          </a:p>
        </p:txBody>
      </p:sp>
      <p:sp>
        <p:nvSpPr>
          <p:cNvPr id="31" name="Text 23"/>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C"/>
        </a:solidFill>
        <a:effectLst/>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ABOUT THE PROGRAM</a:t>
            </a:r>
            <a:endParaRPr lang="en-US" sz="1200" dirty="0"/>
          </a:p>
        </p:txBody>
      </p:sp>
      <p:sp>
        <p:nvSpPr>
          <p:cNvPr id="3" name="Text 1"/>
          <p:cNvSpPr/>
          <p:nvPr/>
        </p:nvSpPr>
        <p:spPr>
          <a:xfrm>
            <a:off x="484632" y="731520"/>
            <a:ext cx="10515600" cy="640080"/>
          </a:xfrm>
          <a:prstGeom prst="rect">
            <a:avLst/>
          </a:prstGeom>
          <a:noFill/>
          <a:ln/>
        </p:spPr>
        <p:txBody>
          <a:bodyPr wrap="square" rtlCol="0" anchor="ctr"/>
          <a:lstStyle/>
          <a:p>
            <a:pPr marL="0" indent="0">
              <a:buNone/>
            </a:pPr>
            <a:r>
              <a:rPr lang="en-US" sz="3200" b="1" dirty="0">
                <a:solidFill>
                  <a:srgbClr val="1A1A2E"/>
                </a:solidFill>
                <a:latin typeface="Cambria" pitchFamily="34" charset="0"/>
                <a:ea typeface="Cambria" pitchFamily="34" charset="-122"/>
                <a:cs typeface="Cambria" pitchFamily="34" charset="-120"/>
              </a:rPr>
              <a:t>EduSkills, AICTE &amp; Industry Mentorship</a:t>
            </a:r>
            <a:endParaRPr lang="en-US" sz="3200" dirty="0"/>
          </a:p>
        </p:txBody>
      </p:sp>
      <p:sp>
        <p:nvSpPr>
          <p:cNvPr id="4" name="Text 2"/>
          <p:cNvSpPr/>
          <p:nvPr/>
        </p:nvSpPr>
        <p:spPr>
          <a:xfrm>
            <a:off x="502920" y="1508760"/>
            <a:ext cx="11155680" cy="1005840"/>
          </a:xfrm>
          <a:prstGeom prst="rect">
            <a:avLst/>
          </a:prstGeom>
          <a:noFill/>
          <a:ln/>
        </p:spPr>
        <p:txBody>
          <a:bodyPr wrap="square" rtlCol="0" anchor="ctr"/>
          <a:lstStyle/>
          <a:p>
            <a:pPr marL="0" indent="0">
              <a:lnSpc>
                <a:spcPts val="2000"/>
              </a:lnSpc>
              <a:buNone/>
            </a:pPr>
            <a:r>
              <a:rPr lang="en-US" sz="1350" dirty="0">
                <a:solidFill>
                  <a:srgbClr val="6B7280"/>
                </a:solidFill>
                <a:latin typeface="Calibri" pitchFamily="34" charset="0"/>
                <a:ea typeface="Calibri" pitchFamily="34" charset="-122"/>
                <a:cs typeface="Calibri" pitchFamily="34" charset="-120"/>
              </a:rPr>
              <a:t>EduSkills Academy delivers the AICTE – EduSkills Virtual Internship Program under the patronage of the AICTE National Internship Portal, run by the Ministry of Education. For the Java Full Stack Development track, the program pairs a structured, mentor-guided LMS curriculum with hands-on project work, culminating in the “Student Result Processing System” project completed under the guidance of industry mentor Ms. Sagarabala Behera.</a:t>
            </a:r>
            <a:endParaRPr lang="en-US" sz="1350" dirty="0"/>
          </a:p>
        </p:txBody>
      </p:sp>
      <p:sp>
        <p:nvSpPr>
          <p:cNvPr id="5" name="Shape 3"/>
          <p:cNvSpPr/>
          <p:nvPr/>
        </p:nvSpPr>
        <p:spPr>
          <a:xfrm>
            <a:off x="502920" y="2834640"/>
            <a:ext cx="3520440" cy="2331720"/>
          </a:xfrm>
          <a:prstGeom prst="roundRect">
            <a:avLst>
              <a:gd name="adj" fmla="val 3137"/>
            </a:avLst>
          </a:prstGeom>
          <a:solidFill>
            <a:srgbClr val="FFFFFF"/>
          </a:solidFill>
          <a:ln/>
          <a:effectLst>
            <a:outerShdw blurRad="76200" dist="25400" dir="5400000" algn="bl" rotWithShape="0">
              <a:srgbClr val="444444">
                <a:alpha val="18000"/>
              </a:srgbClr>
            </a:outerShdw>
          </a:effectLst>
        </p:spPr>
      </p:sp>
      <p:sp>
        <p:nvSpPr>
          <p:cNvPr id="6" name="Shape 4"/>
          <p:cNvSpPr/>
          <p:nvPr/>
        </p:nvSpPr>
        <p:spPr>
          <a:xfrm>
            <a:off x="1851660" y="3200400"/>
            <a:ext cx="822960" cy="822960"/>
          </a:xfrm>
          <a:prstGeom prst="ellipse">
            <a:avLst/>
          </a:prstGeom>
          <a:solidFill>
            <a:srgbClr val="CADCFC"/>
          </a:solidFill>
          <a:ln/>
        </p:spPr>
      </p:sp>
      <p:pic>
        <p:nvPicPr>
          <p:cNvPr id="7" name="Image 0" descr="/home/claude/icons/flag.png"/>
          <p:cNvPicPr>
            <a:picLocks noChangeAspect="1"/>
          </p:cNvPicPr>
          <p:nvPr/>
        </p:nvPicPr>
        <p:blipFill>
          <a:blip r:embed="rId3"/>
          <a:stretch>
            <a:fillRect/>
          </a:stretch>
        </p:blipFill>
        <p:spPr>
          <a:xfrm>
            <a:off x="2065630" y="3414370"/>
            <a:ext cx="395021" cy="395021"/>
          </a:xfrm>
          <a:prstGeom prst="rect">
            <a:avLst/>
          </a:prstGeom>
        </p:spPr>
      </p:pic>
      <p:sp>
        <p:nvSpPr>
          <p:cNvPr id="8" name="Text 5"/>
          <p:cNvSpPr/>
          <p:nvPr/>
        </p:nvSpPr>
        <p:spPr>
          <a:xfrm>
            <a:off x="731520" y="4206240"/>
            <a:ext cx="3063240" cy="365760"/>
          </a:xfrm>
          <a:prstGeom prst="rect">
            <a:avLst/>
          </a:prstGeom>
          <a:noFill/>
          <a:ln/>
        </p:spPr>
        <p:txBody>
          <a:bodyPr wrap="square" rtlCol="0" anchor="ctr"/>
          <a:lstStyle/>
          <a:p>
            <a:pPr marL="0" indent="0" algn="ctr">
              <a:buNone/>
            </a:pPr>
            <a:r>
              <a:rPr lang="en-US" sz="1500" b="1" dirty="0">
                <a:solidFill>
                  <a:srgbClr val="1A1A2E"/>
                </a:solidFill>
                <a:latin typeface="Calibri" pitchFamily="34" charset="0"/>
                <a:ea typeface="Calibri" pitchFamily="34" charset="-122"/>
                <a:cs typeface="Calibri" pitchFamily="34" charset="-120"/>
              </a:rPr>
              <a:t>AICTE Patronage</a:t>
            </a:r>
            <a:endParaRPr lang="en-US" sz="1500" dirty="0"/>
          </a:p>
        </p:txBody>
      </p:sp>
      <p:sp>
        <p:nvSpPr>
          <p:cNvPr id="9" name="Text 6"/>
          <p:cNvSpPr/>
          <p:nvPr/>
        </p:nvSpPr>
        <p:spPr>
          <a:xfrm>
            <a:off x="777240" y="4572000"/>
            <a:ext cx="2971800" cy="54864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Run under the AICTE National Internship Portal, Ministry of Education.</a:t>
            </a:r>
            <a:endParaRPr lang="en-US" sz="1100" dirty="0"/>
          </a:p>
        </p:txBody>
      </p:sp>
      <p:sp>
        <p:nvSpPr>
          <p:cNvPr id="10" name="Shape 7"/>
          <p:cNvSpPr/>
          <p:nvPr/>
        </p:nvSpPr>
        <p:spPr>
          <a:xfrm>
            <a:off x="4343400" y="2834640"/>
            <a:ext cx="3520440" cy="2331720"/>
          </a:xfrm>
          <a:prstGeom prst="roundRect">
            <a:avLst>
              <a:gd name="adj" fmla="val 3137"/>
            </a:avLst>
          </a:prstGeom>
          <a:solidFill>
            <a:srgbClr val="FFFFFF"/>
          </a:solidFill>
          <a:ln/>
          <a:effectLst>
            <a:outerShdw blurRad="76200" dist="25400" dir="5400000" algn="bl" rotWithShape="0">
              <a:srgbClr val="444444">
                <a:alpha val="18000"/>
              </a:srgbClr>
            </a:outerShdw>
          </a:effectLst>
        </p:spPr>
      </p:sp>
      <p:sp>
        <p:nvSpPr>
          <p:cNvPr id="11" name="Shape 8"/>
          <p:cNvSpPr/>
          <p:nvPr/>
        </p:nvSpPr>
        <p:spPr>
          <a:xfrm>
            <a:off x="5692140" y="3200400"/>
            <a:ext cx="822960" cy="822960"/>
          </a:xfrm>
          <a:prstGeom prst="ellipse">
            <a:avLst/>
          </a:prstGeom>
          <a:solidFill>
            <a:srgbClr val="CADCFC"/>
          </a:solidFill>
          <a:ln/>
        </p:spPr>
      </p:sp>
      <p:pic>
        <p:nvPicPr>
          <p:cNvPr id="12" name="Image 1" descr="/home/claude/icons/cloudserver.png"/>
          <p:cNvPicPr>
            <a:picLocks noChangeAspect="1"/>
          </p:cNvPicPr>
          <p:nvPr/>
        </p:nvPicPr>
        <p:blipFill>
          <a:blip r:embed="rId4"/>
          <a:stretch>
            <a:fillRect/>
          </a:stretch>
        </p:blipFill>
        <p:spPr>
          <a:xfrm>
            <a:off x="5906110" y="3414370"/>
            <a:ext cx="395021" cy="395021"/>
          </a:xfrm>
          <a:prstGeom prst="rect">
            <a:avLst/>
          </a:prstGeom>
        </p:spPr>
      </p:pic>
      <p:sp>
        <p:nvSpPr>
          <p:cNvPr id="13" name="Text 9"/>
          <p:cNvSpPr/>
          <p:nvPr/>
        </p:nvSpPr>
        <p:spPr>
          <a:xfrm>
            <a:off x="4572000" y="4206240"/>
            <a:ext cx="3063240" cy="365760"/>
          </a:xfrm>
          <a:prstGeom prst="rect">
            <a:avLst/>
          </a:prstGeom>
          <a:noFill/>
          <a:ln/>
        </p:spPr>
        <p:txBody>
          <a:bodyPr wrap="square" rtlCol="0" anchor="ctr"/>
          <a:lstStyle/>
          <a:p>
            <a:pPr marL="0" indent="0" algn="ctr">
              <a:buNone/>
            </a:pPr>
            <a:r>
              <a:rPr lang="en-US" sz="1500" b="1" dirty="0">
                <a:solidFill>
                  <a:srgbClr val="1A1A2E"/>
                </a:solidFill>
                <a:latin typeface="Calibri" pitchFamily="34" charset="0"/>
                <a:ea typeface="Calibri" pitchFamily="34" charset="-122"/>
                <a:cs typeface="Calibri" pitchFamily="34" charset="-120"/>
              </a:rPr>
              <a:t>EduSkills LMS</a:t>
            </a:r>
            <a:endParaRPr lang="en-US" sz="1500" dirty="0"/>
          </a:p>
        </p:txBody>
      </p:sp>
      <p:sp>
        <p:nvSpPr>
          <p:cNvPr id="14" name="Text 10"/>
          <p:cNvSpPr/>
          <p:nvPr/>
        </p:nvSpPr>
        <p:spPr>
          <a:xfrm>
            <a:off x="4617720" y="4572000"/>
            <a:ext cx="2971800" cy="54864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8-week structured curriculum delivered via the EduSkills virtual learning platform.</a:t>
            </a:r>
            <a:endParaRPr lang="en-US" sz="1100" dirty="0"/>
          </a:p>
        </p:txBody>
      </p:sp>
      <p:sp>
        <p:nvSpPr>
          <p:cNvPr id="15" name="Shape 11"/>
          <p:cNvSpPr/>
          <p:nvPr/>
        </p:nvSpPr>
        <p:spPr>
          <a:xfrm>
            <a:off x="8183880" y="2834640"/>
            <a:ext cx="3520440" cy="2331720"/>
          </a:xfrm>
          <a:prstGeom prst="roundRect">
            <a:avLst>
              <a:gd name="adj" fmla="val 3137"/>
            </a:avLst>
          </a:prstGeom>
          <a:solidFill>
            <a:srgbClr val="FFFFFF"/>
          </a:solidFill>
          <a:ln/>
          <a:effectLst>
            <a:outerShdw blurRad="76200" dist="25400" dir="5400000" algn="bl" rotWithShape="0">
              <a:srgbClr val="444444">
                <a:alpha val="18000"/>
              </a:srgbClr>
            </a:outerShdw>
          </a:effectLst>
        </p:spPr>
      </p:sp>
      <p:sp>
        <p:nvSpPr>
          <p:cNvPr id="16" name="Shape 12"/>
          <p:cNvSpPr/>
          <p:nvPr/>
        </p:nvSpPr>
        <p:spPr>
          <a:xfrm>
            <a:off x="9532620" y="3200400"/>
            <a:ext cx="822960" cy="822960"/>
          </a:xfrm>
          <a:prstGeom prst="ellipse">
            <a:avLst/>
          </a:prstGeom>
          <a:solidFill>
            <a:srgbClr val="CADCFC"/>
          </a:solidFill>
          <a:ln/>
        </p:spPr>
      </p:sp>
      <p:pic>
        <p:nvPicPr>
          <p:cNvPr id="17" name="Image 2" descr="/home/claude/icons/handshake.png"/>
          <p:cNvPicPr>
            <a:picLocks noChangeAspect="1"/>
          </p:cNvPicPr>
          <p:nvPr/>
        </p:nvPicPr>
        <p:blipFill>
          <a:blip r:embed="rId5"/>
          <a:stretch>
            <a:fillRect/>
          </a:stretch>
        </p:blipFill>
        <p:spPr>
          <a:xfrm>
            <a:off x="9746590" y="3414370"/>
            <a:ext cx="395021" cy="395021"/>
          </a:xfrm>
          <a:prstGeom prst="rect">
            <a:avLst/>
          </a:prstGeom>
        </p:spPr>
      </p:pic>
      <p:sp>
        <p:nvSpPr>
          <p:cNvPr id="18" name="Text 13"/>
          <p:cNvSpPr/>
          <p:nvPr/>
        </p:nvSpPr>
        <p:spPr>
          <a:xfrm>
            <a:off x="8412480" y="4206240"/>
            <a:ext cx="3063240" cy="365760"/>
          </a:xfrm>
          <a:prstGeom prst="rect">
            <a:avLst/>
          </a:prstGeom>
          <a:noFill/>
          <a:ln/>
        </p:spPr>
        <p:txBody>
          <a:bodyPr wrap="square" rtlCol="0" anchor="ctr"/>
          <a:lstStyle/>
          <a:p>
            <a:pPr marL="0" indent="0" algn="ctr">
              <a:buNone/>
            </a:pPr>
            <a:r>
              <a:rPr lang="en-US" sz="1500" b="1" dirty="0">
                <a:solidFill>
                  <a:srgbClr val="1A1A2E"/>
                </a:solidFill>
                <a:latin typeface="Calibri" pitchFamily="34" charset="0"/>
                <a:ea typeface="Calibri" pitchFamily="34" charset="-122"/>
                <a:cs typeface="Calibri" pitchFamily="34" charset="-120"/>
              </a:rPr>
              <a:t>Industry Mentorship</a:t>
            </a:r>
            <a:endParaRPr lang="en-US" sz="1500" dirty="0"/>
          </a:p>
        </p:txBody>
      </p:sp>
      <p:sp>
        <p:nvSpPr>
          <p:cNvPr id="19" name="Text 14"/>
          <p:cNvSpPr/>
          <p:nvPr/>
        </p:nvSpPr>
        <p:spPr>
          <a:xfrm>
            <a:off x="8458200" y="4572000"/>
            <a:ext cx="2971800" cy="548640"/>
          </a:xfrm>
          <a:prstGeom prst="rect">
            <a:avLst/>
          </a:prstGeom>
          <a:noFill/>
          <a:ln/>
        </p:spPr>
        <p:txBody>
          <a:bodyPr wrap="square"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Guided throughout by industry mentor Ms. Sagarabala Behera.</a:t>
            </a:r>
            <a:endParaRPr lang="en-US" sz="1100" dirty="0"/>
          </a:p>
        </p:txBody>
      </p:sp>
      <p:sp>
        <p:nvSpPr>
          <p:cNvPr id="20" name="Text 15"/>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Student Result Processing System  •  Shivam Singh</a:t>
            </a:r>
            <a:endParaRPr lang="en-US" sz="1000" dirty="0"/>
          </a:p>
        </p:txBody>
      </p:sp>
      <p:sp>
        <p:nvSpPr>
          <p:cNvPr id="21"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484632" y="731520"/>
            <a:ext cx="10972800" cy="640080"/>
          </a:xfrm>
          <a:prstGeom prst="rect">
            <a:avLst/>
          </a:prstGeom>
          <a:noFill/>
          <a:ln/>
        </p:spPr>
        <p:txBody>
          <a:bodyPr wrap="square" rtlCol="0" anchor="ctr"/>
          <a:lstStyle/>
          <a:p>
            <a:pPr marL="0" indent="0">
              <a:buNone/>
            </a:pPr>
            <a:r>
              <a:rPr lang="en-US" sz="3200" b="1" dirty="0">
                <a:solidFill>
                  <a:srgbClr val="1A1A2E"/>
                </a:solidFill>
                <a:latin typeface="Cambria" pitchFamily="34" charset="0"/>
                <a:ea typeface="Cambria" pitchFamily="34" charset="-122"/>
                <a:cs typeface="Cambria" pitchFamily="34" charset="-120"/>
              </a:rPr>
              <a:t>From Raw Marks to Ranked Results</a:t>
            </a:r>
            <a:endParaRPr lang="en-US" sz="3200" dirty="0"/>
          </a:p>
        </p:txBody>
      </p:sp>
      <p:sp>
        <p:nvSpPr>
          <p:cNvPr id="4" name="Shape 2"/>
          <p:cNvSpPr/>
          <p:nvPr/>
        </p:nvSpPr>
        <p:spPr>
          <a:xfrm>
            <a:off x="502920" y="1600200"/>
            <a:ext cx="11155680" cy="1417320"/>
          </a:xfrm>
          <a:prstGeom prst="roundRect">
            <a:avLst>
              <a:gd name="adj" fmla="val 3871"/>
            </a:avLst>
          </a:prstGeom>
          <a:solidFill>
            <a:srgbClr val="F2F5FC"/>
          </a:solidFill>
          <a:ln/>
        </p:spPr>
      </p:sp>
      <p:sp>
        <p:nvSpPr>
          <p:cNvPr id="5" name="Text 3"/>
          <p:cNvSpPr/>
          <p:nvPr/>
        </p:nvSpPr>
        <p:spPr>
          <a:xfrm>
            <a:off x="777240" y="1783080"/>
            <a:ext cx="10607040" cy="1097280"/>
          </a:xfrm>
          <a:prstGeom prst="rect">
            <a:avLst/>
          </a:prstGeom>
          <a:noFill/>
          <a:ln/>
        </p:spPr>
        <p:txBody>
          <a:bodyPr wrap="square" rtlCol="0" anchor="ctr"/>
          <a:lstStyle/>
          <a:p>
            <a:pPr marL="0" indent="0">
              <a:lnSpc>
                <a:spcPts val="1900"/>
              </a:lnSpc>
              <a:buNone/>
            </a:pPr>
            <a:r>
              <a:rPr lang="en-US" sz="1300" dirty="0">
                <a:solidFill>
                  <a:srgbClr val="1A1A2E"/>
                </a:solidFill>
                <a:latin typeface="Calibri" pitchFamily="34" charset="0"/>
                <a:ea typeface="Calibri" pitchFamily="34" charset="-122"/>
                <a:cs typeface="Calibri" pitchFamily="34" charset="-120"/>
              </a:rPr>
              <a:t>Academic institutions regularly need to convert raw student performance data into structured, meaningful insights. This project addresses that need by taking raw student performance data, typically supplied in CSV format, and transforming it into comprehensive analytical results — normalizing input, aggregating subject-wise marks, computing percentages, assigning grades, and generating a ranked list of students, all while adhering to strict JSON output standards for interoperability.</a:t>
            </a:r>
            <a:endParaRPr lang="en-US" sz="1300" dirty="0"/>
          </a:p>
        </p:txBody>
      </p:sp>
      <p:sp>
        <p:nvSpPr>
          <p:cNvPr id="6" name="Text 4"/>
          <p:cNvSpPr/>
          <p:nvPr/>
        </p:nvSpPr>
        <p:spPr>
          <a:xfrm>
            <a:off x="502920" y="3246120"/>
            <a:ext cx="10515600" cy="36576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This internship addressed that gap — building the full data-processing pipeline:</a:t>
            </a:r>
            <a:endParaRPr lang="en-US" sz="1400" dirty="0"/>
          </a:p>
        </p:txBody>
      </p:sp>
      <p:sp>
        <p:nvSpPr>
          <p:cNvPr id="7" name="Shape 5"/>
          <p:cNvSpPr/>
          <p:nvPr/>
        </p:nvSpPr>
        <p:spPr>
          <a:xfrm>
            <a:off x="502920" y="3886200"/>
            <a:ext cx="1965960" cy="1463040"/>
          </a:xfrm>
          <a:prstGeom prst="roundRect">
            <a:avLst>
              <a:gd name="adj" fmla="val 5000"/>
            </a:avLst>
          </a:prstGeom>
          <a:solidFill>
            <a:srgbClr val="1E2761"/>
          </a:solidFill>
          <a:ln/>
        </p:spPr>
      </p:sp>
      <p:sp>
        <p:nvSpPr>
          <p:cNvPr id="8" name="Shape 6"/>
          <p:cNvSpPr/>
          <p:nvPr/>
        </p:nvSpPr>
        <p:spPr>
          <a:xfrm>
            <a:off x="1165860" y="4114800"/>
            <a:ext cx="640080" cy="640080"/>
          </a:xfrm>
          <a:prstGeom prst="ellipse">
            <a:avLst/>
          </a:prstGeom>
          <a:solidFill>
            <a:srgbClr val="161C4D"/>
          </a:solidFill>
          <a:ln/>
        </p:spPr>
      </p:sp>
      <p:pic>
        <p:nvPicPr>
          <p:cNvPr id="9" name="Image 0" descr="/home/claude/icons/filecsv_white.png"/>
          <p:cNvPicPr>
            <a:picLocks noChangeAspect="1"/>
          </p:cNvPicPr>
          <p:nvPr/>
        </p:nvPicPr>
        <p:blipFill>
          <a:blip r:embed="rId3"/>
          <a:stretch>
            <a:fillRect/>
          </a:stretch>
        </p:blipFill>
        <p:spPr>
          <a:xfrm>
            <a:off x="1332281" y="4281221"/>
            <a:ext cx="307238" cy="307238"/>
          </a:xfrm>
          <a:prstGeom prst="rect">
            <a:avLst/>
          </a:prstGeom>
        </p:spPr>
      </p:pic>
      <p:sp>
        <p:nvSpPr>
          <p:cNvPr id="10" name="Text 7"/>
          <p:cNvSpPr/>
          <p:nvPr/>
        </p:nvSpPr>
        <p:spPr>
          <a:xfrm>
            <a:off x="594360" y="4846320"/>
            <a:ext cx="178308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Parse CSV</a:t>
            </a:r>
            <a:endParaRPr lang="en-US" sz="1250" dirty="0"/>
          </a:p>
        </p:txBody>
      </p:sp>
      <p:sp>
        <p:nvSpPr>
          <p:cNvPr id="11" name="Text 8"/>
          <p:cNvSpPr/>
          <p:nvPr/>
        </p:nvSpPr>
        <p:spPr>
          <a:xfrm>
            <a:off x="2468880" y="4343400"/>
            <a:ext cx="256032" cy="54864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2724912" y="3886200"/>
            <a:ext cx="1965960" cy="1463040"/>
          </a:xfrm>
          <a:prstGeom prst="roundRect">
            <a:avLst>
              <a:gd name="adj" fmla="val 5000"/>
            </a:avLst>
          </a:prstGeom>
          <a:solidFill>
            <a:srgbClr val="1E2761"/>
          </a:solidFill>
          <a:ln/>
        </p:spPr>
      </p:sp>
      <p:sp>
        <p:nvSpPr>
          <p:cNvPr id="13" name="Shape 10"/>
          <p:cNvSpPr/>
          <p:nvPr/>
        </p:nvSpPr>
        <p:spPr>
          <a:xfrm>
            <a:off x="3387852" y="4114800"/>
            <a:ext cx="640080" cy="640080"/>
          </a:xfrm>
          <a:prstGeom prst="ellipse">
            <a:avLst/>
          </a:prstGeom>
          <a:solidFill>
            <a:srgbClr val="161C4D"/>
          </a:solidFill>
          <a:ln/>
        </p:spPr>
      </p:sp>
      <p:pic>
        <p:nvPicPr>
          <p:cNvPr id="14" name="Image 1" descr="/home/claude/icons/calculator_white.png"/>
          <p:cNvPicPr>
            <a:picLocks noChangeAspect="1"/>
          </p:cNvPicPr>
          <p:nvPr/>
        </p:nvPicPr>
        <p:blipFill>
          <a:blip r:embed="rId4"/>
          <a:stretch>
            <a:fillRect/>
          </a:stretch>
        </p:blipFill>
        <p:spPr>
          <a:xfrm>
            <a:off x="3554273" y="4281221"/>
            <a:ext cx="307238" cy="307238"/>
          </a:xfrm>
          <a:prstGeom prst="rect">
            <a:avLst/>
          </a:prstGeom>
        </p:spPr>
      </p:pic>
      <p:sp>
        <p:nvSpPr>
          <p:cNvPr id="15" name="Text 11"/>
          <p:cNvSpPr/>
          <p:nvPr/>
        </p:nvSpPr>
        <p:spPr>
          <a:xfrm>
            <a:off x="2816352" y="4846320"/>
            <a:ext cx="178308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Calculate Totals</a:t>
            </a:r>
            <a:endParaRPr lang="en-US" sz="1250" dirty="0"/>
          </a:p>
        </p:txBody>
      </p:sp>
      <p:sp>
        <p:nvSpPr>
          <p:cNvPr id="16" name="Text 12"/>
          <p:cNvSpPr/>
          <p:nvPr/>
        </p:nvSpPr>
        <p:spPr>
          <a:xfrm>
            <a:off x="4690872" y="4343400"/>
            <a:ext cx="256032" cy="54864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t>
            </a:r>
            <a:endParaRPr lang="en-US" sz="2000" dirty="0"/>
          </a:p>
        </p:txBody>
      </p:sp>
      <p:sp>
        <p:nvSpPr>
          <p:cNvPr id="17" name="Shape 13"/>
          <p:cNvSpPr/>
          <p:nvPr/>
        </p:nvSpPr>
        <p:spPr>
          <a:xfrm>
            <a:off x="4946904" y="3886200"/>
            <a:ext cx="1965960" cy="1463040"/>
          </a:xfrm>
          <a:prstGeom prst="roundRect">
            <a:avLst>
              <a:gd name="adj" fmla="val 5000"/>
            </a:avLst>
          </a:prstGeom>
          <a:solidFill>
            <a:srgbClr val="1E2761"/>
          </a:solidFill>
          <a:ln/>
        </p:spPr>
      </p:sp>
      <p:sp>
        <p:nvSpPr>
          <p:cNvPr id="18" name="Shape 14"/>
          <p:cNvSpPr/>
          <p:nvPr/>
        </p:nvSpPr>
        <p:spPr>
          <a:xfrm>
            <a:off x="5609844" y="4114800"/>
            <a:ext cx="640080" cy="640080"/>
          </a:xfrm>
          <a:prstGeom prst="ellipse">
            <a:avLst/>
          </a:prstGeom>
          <a:solidFill>
            <a:srgbClr val="161C4D"/>
          </a:solidFill>
          <a:ln/>
        </p:spPr>
      </p:sp>
      <p:pic>
        <p:nvPicPr>
          <p:cNvPr id="19" name="Image 2" descr="/home/claude/icons/percent_white.png"/>
          <p:cNvPicPr>
            <a:picLocks noChangeAspect="1"/>
          </p:cNvPicPr>
          <p:nvPr/>
        </p:nvPicPr>
        <p:blipFill>
          <a:blip r:embed="rId5"/>
          <a:stretch>
            <a:fillRect/>
          </a:stretch>
        </p:blipFill>
        <p:spPr>
          <a:xfrm>
            <a:off x="5776265" y="4281221"/>
            <a:ext cx="307238" cy="307238"/>
          </a:xfrm>
          <a:prstGeom prst="rect">
            <a:avLst/>
          </a:prstGeom>
        </p:spPr>
      </p:pic>
      <p:sp>
        <p:nvSpPr>
          <p:cNvPr id="20" name="Text 15"/>
          <p:cNvSpPr/>
          <p:nvPr/>
        </p:nvSpPr>
        <p:spPr>
          <a:xfrm>
            <a:off x="5038344" y="4846320"/>
            <a:ext cx="178308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Compute %</a:t>
            </a:r>
            <a:endParaRPr lang="en-US" sz="1250" dirty="0"/>
          </a:p>
        </p:txBody>
      </p:sp>
      <p:sp>
        <p:nvSpPr>
          <p:cNvPr id="21" name="Text 16"/>
          <p:cNvSpPr/>
          <p:nvPr/>
        </p:nvSpPr>
        <p:spPr>
          <a:xfrm>
            <a:off x="6912864" y="4343400"/>
            <a:ext cx="256032" cy="54864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t>
            </a:r>
            <a:endParaRPr lang="en-US" sz="2000" dirty="0"/>
          </a:p>
        </p:txBody>
      </p:sp>
      <p:sp>
        <p:nvSpPr>
          <p:cNvPr id="22" name="Shape 17"/>
          <p:cNvSpPr/>
          <p:nvPr/>
        </p:nvSpPr>
        <p:spPr>
          <a:xfrm>
            <a:off x="7168896" y="3886200"/>
            <a:ext cx="1965960" cy="1463040"/>
          </a:xfrm>
          <a:prstGeom prst="roundRect">
            <a:avLst>
              <a:gd name="adj" fmla="val 5000"/>
            </a:avLst>
          </a:prstGeom>
          <a:solidFill>
            <a:srgbClr val="1E2761"/>
          </a:solidFill>
          <a:ln/>
        </p:spPr>
      </p:sp>
      <p:sp>
        <p:nvSpPr>
          <p:cNvPr id="23" name="Shape 18"/>
          <p:cNvSpPr/>
          <p:nvPr/>
        </p:nvSpPr>
        <p:spPr>
          <a:xfrm>
            <a:off x="7831836" y="4114800"/>
            <a:ext cx="640080" cy="640080"/>
          </a:xfrm>
          <a:prstGeom prst="ellipse">
            <a:avLst/>
          </a:prstGeom>
          <a:solidFill>
            <a:srgbClr val="161C4D"/>
          </a:solidFill>
          <a:ln/>
        </p:spPr>
      </p:sp>
      <p:pic>
        <p:nvPicPr>
          <p:cNvPr id="24" name="Image 3" descr="/home/claude/icons/award_white.png"/>
          <p:cNvPicPr>
            <a:picLocks noChangeAspect="1"/>
          </p:cNvPicPr>
          <p:nvPr/>
        </p:nvPicPr>
        <p:blipFill>
          <a:blip r:embed="rId6"/>
          <a:stretch>
            <a:fillRect/>
          </a:stretch>
        </p:blipFill>
        <p:spPr>
          <a:xfrm>
            <a:off x="7998257" y="4281221"/>
            <a:ext cx="307238" cy="307238"/>
          </a:xfrm>
          <a:prstGeom prst="rect">
            <a:avLst/>
          </a:prstGeom>
        </p:spPr>
      </p:pic>
      <p:sp>
        <p:nvSpPr>
          <p:cNvPr id="25" name="Text 19"/>
          <p:cNvSpPr/>
          <p:nvPr/>
        </p:nvSpPr>
        <p:spPr>
          <a:xfrm>
            <a:off x="7260336" y="4846320"/>
            <a:ext cx="178308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Assign Grades</a:t>
            </a:r>
            <a:endParaRPr lang="en-US" sz="1250" dirty="0"/>
          </a:p>
        </p:txBody>
      </p:sp>
      <p:sp>
        <p:nvSpPr>
          <p:cNvPr id="26" name="Text 20"/>
          <p:cNvSpPr/>
          <p:nvPr/>
        </p:nvSpPr>
        <p:spPr>
          <a:xfrm>
            <a:off x="9134856" y="4343400"/>
            <a:ext cx="256032" cy="54864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a:t>
            </a:r>
            <a:endParaRPr lang="en-US" sz="2000" dirty="0"/>
          </a:p>
        </p:txBody>
      </p:sp>
      <p:sp>
        <p:nvSpPr>
          <p:cNvPr id="27" name="Shape 21"/>
          <p:cNvSpPr/>
          <p:nvPr/>
        </p:nvSpPr>
        <p:spPr>
          <a:xfrm>
            <a:off x="9390888" y="3886200"/>
            <a:ext cx="1965960" cy="1463040"/>
          </a:xfrm>
          <a:prstGeom prst="roundRect">
            <a:avLst>
              <a:gd name="adj" fmla="val 5000"/>
            </a:avLst>
          </a:prstGeom>
          <a:solidFill>
            <a:srgbClr val="1E2761"/>
          </a:solidFill>
          <a:ln/>
        </p:spPr>
      </p:sp>
      <p:sp>
        <p:nvSpPr>
          <p:cNvPr id="28" name="Shape 22"/>
          <p:cNvSpPr/>
          <p:nvPr/>
        </p:nvSpPr>
        <p:spPr>
          <a:xfrm>
            <a:off x="10053828" y="4114800"/>
            <a:ext cx="640080" cy="640080"/>
          </a:xfrm>
          <a:prstGeom prst="ellipse">
            <a:avLst/>
          </a:prstGeom>
          <a:solidFill>
            <a:srgbClr val="161C4D"/>
          </a:solidFill>
          <a:ln/>
        </p:spPr>
      </p:sp>
      <p:pic>
        <p:nvPicPr>
          <p:cNvPr id="29" name="Image 4" descr="/home/claude/icons/sort_white.png"/>
          <p:cNvPicPr>
            <a:picLocks noChangeAspect="1"/>
          </p:cNvPicPr>
          <p:nvPr/>
        </p:nvPicPr>
        <p:blipFill>
          <a:blip r:embed="rId7"/>
          <a:stretch>
            <a:fillRect/>
          </a:stretch>
        </p:blipFill>
        <p:spPr>
          <a:xfrm>
            <a:off x="10220249" y="4281221"/>
            <a:ext cx="307238" cy="307238"/>
          </a:xfrm>
          <a:prstGeom prst="rect">
            <a:avLst/>
          </a:prstGeom>
        </p:spPr>
      </p:pic>
      <p:sp>
        <p:nvSpPr>
          <p:cNvPr id="30" name="Text 23"/>
          <p:cNvSpPr/>
          <p:nvPr/>
        </p:nvSpPr>
        <p:spPr>
          <a:xfrm>
            <a:off x="9482328" y="4846320"/>
            <a:ext cx="1783080" cy="4114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Rank Students</a:t>
            </a:r>
            <a:endParaRPr lang="en-US" sz="1250" dirty="0"/>
          </a:p>
        </p:txBody>
      </p:sp>
      <p:sp>
        <p:nvSpPr>
          <p:cNvPr id="31" name="Text 24"/>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Student Result Processing System  •  Shivam Singh</a:t>
            </a:r>
            <a:endParaRPr lang="en-US" sz="1000" dirty="0"/>
          </a:p>
        </p:txBody>
      </p:sp>
      <p:sp>
        <p:nvSpPr>
          <p:cNvPr id="32" name="Text 2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C"/>
        </a:solidFill>
        <a:effectLst/>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484632" y="731520"/>
            <a:ext cx="10972800" cy="640080"/>
          </a:xfrm>
          <a:prstGeom prst="rect">
            <a:avLst/>
          </a:prstGeom>
          <a:noFill/>
          <a:ln/>
        </p:spPr>
        <p:txBody>
          <a:bodyPr wrap="square" rtlCol="0" anchor="ctr"/>
          <a:lstStyle/>
          <a:p>
            <a:pPr marL="0" indent="0">
              <a:buNone/>
            </a:pPr>
            <a:r>
              <a:rPr lang="en-US" sz="3200" b="1" dirty="0">
                <a:solidFill>
                  <a:srgbClr val="1A1A2E"/>
                </a:solidFill>
                <a:latin typeface="Cambria" pitchFamily="34" charset="0"/>
                <a:ea typeface="Cambria" pitchFamily="34" charset="-122"/>
                <a:cs typeface="Cambria" pitchFamily="34" charset="-120"/>
              </a:rPr>
              <a:t>What the Internship Set Out to Achieve</a:t>
            </a:r>
            <a:endParaRPr lang="en-US" sz="3200" dirty="0"/>
          </a:p>
        </p:txBody>
      </p:sp>
      <p:sp>
        <p:nvSpPr>
          <p:cNvPr id="4" name="Shape 2"/>
          <p:cNvSpPr/>
          <p:nvPr/>
        </p:nvSpPr>
        <p:spPr>
          <a:xfrm>
            <a:off x="502920" y="1691640"/>
            <a:ext cx="5394960" cy="1965960"/>
          </a:xfrm>
          <a:prstGeom prst="roundRect">
            <a:avLst>
              <a:gd name="adj" fmla="val 3721"/>
            </a:avLst>
          </a:prstGeom>
          <a:solidFill>
            <a:srgbClr val="FFFFFF"/>
          </a:solidFill>
          <a:ln/>
          <a:effectLst>
            <a:outerShdw blurRad="76200" dist="25400" dir="5400000" algn="bl" rotWithShape="0">
              <a:srgbClr val="444444">
                <a:alpha val="15000"/>
              </a:srgbClr>
            </a:outerShdw>
          </a:effectLst>
        </p:spPr>
      </p:sp>
      <p:sp>
        <p:nvSpPr>
          <p:cNvPr id="5" name="Shape 3"/>
          <p:cNvSpPr/>
          <p:nvPr/>
        </p:nvSpPr>
        <p:spPr>
          <a:xfrm>
            <a:off x="822960" y="2011680"/>
            <a:ext cx="640080" cy="640080"/>
          </a:xfrm>
          <a:prstGeom prst="ellipse">
            <a:avLst/>
          </a:prstGeom>
          <a:solidFill>
            <a:srgbClr val="CADCFC"/>
          </a:solidFill>
          <a:ln/>
        </p:spPr>
      </p:sp>
      <p:pic>
        <p:nvPicPr>
          <p:cNvPr id="6" name="Image 0" descr="/home/claude/icons/cogs.png"/>
          <p:cNvPicPr>
            <a:picLocks noChangeAspect="1"/>
          </p:cNvPicPr>
          <p:nvPr/>
        </p:nvPicPr>
        <p:blipFill>
          <a:blip r:embed="rId3"/>
          <a:stretch>
            <a:fillRect/>
          </a:stretch>
        </p:blipFill>
        <p:spPr>
          <a:xfrm>
            <a:off x="989381" y="2178101"/>
            <a:ext cx="307238" cy="307238"/>
          </a:xfrm>
          <a:prstGeom prst="rect">
            <a:avLst/>
          </a:prstGeom>
        </p:spPr>
      </p:pic>
      <p:sp>
        <p:nvSpPr>
          <p:cNvPr id="7" name="Text 4"/>
          <p:cNvSpPr/>
          <p:nvPr/>
        </p:nvSpPr>
        <p:spPr>
          <a:xfrm>
            <a:off x="1645920" y="1984248"/>
            <a:ext cx="402336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Backend Pipeline</a:t>
            </a:r>
            <a:endParaRPr lang="en-US" sz="1500" dirty="0"/>
          </a:p>
        </p:txBody>
      </p:sp>
      <p:sp>
        <p:nvSpPr>
          <p:cNvPr id="8" name="Text 5"/>
          <p:cNvSpPr/>
          <p:nvPr/>
        </p:nvSpPr>
        <p:spPr>
          <a:xfrm>
            <a:off x="822960" y="2743200"/>
            <a:ext cx="4754880" cy="82296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Design and implement a backend pipeline that processes raw student CSV data into structured results.</a:t>
            </a:r>
            <a:endParaRPr lang="en-US" sz="1150" dirty="0"/>
          </a:p>
        </p:txBody>
      </p:sp>
      <p:sp>
        <p:nvSpPr>
          <p:cNvPr id="9" name="Shape 6"/>
          <p:cNvSpPr/>
          <p:nvPr/>
        </p:nvSpPr>
        <p:spPr>
          <a:xfrm>
            <a:off x="6263640" y="1691640"/>
            <a:ext cx="5394960" cy="1965960"/>
          </a:xfrm>
          <a:prstGeom prst="roundRect">
            <a:avLst>
              <a:gd name="adj" fmla="val 3721"/>
            </a:avLst>
          </a:prstGeom>
          <a:solidFill>
            <a:srgbClr val="FFFFFF"/>
          </a:solidFill>
          <a:ln/>
          <a:effectLst>
            <a:outerShdw blurRad="76200" dist="25400" dir="5400000" algn="bl" rotWithShape="0">
              <a:srgbClr val="444444">
                <a:alpha val="15000"/>
              </a:srgbClr>
            </a:outerShdw>
          </a:effectLst>
        </p:spPr>
      </p:sp>
      <p:sp>
        <p:nvSpPr>
          <p:cNvPr id="10" name="Shape 7"/>
          <p:cNvSpPr/>
          <p:nvPr/>
        </p:nvSpPr>
        <p:spPr>
          <a:xfrm>
            <a:off x="6583680" y="2011680"/>
            <a:ext cx="640080" cy="640080"/>
          </a:xfrm>
          <a:prstGeom prst="ellipse">
            <a:avLst/>
          </a:prstGeom>
          <a:solidFill>
            <a:srgbClr val="CADCFC"/>
          </a:solidFill>
          <a:ln/>
        </p:spPr>
      </p:sp>
      <p:pic>
        <p:nvPicPr>
          <p:cNvPr id="11" name="Image 1" descr="/home/claude/icons/sort.png"/>
          <p:cNvPicPr>
            <a:picLocks noChangeAspect="1"/>
          </p:cNvPicPr>
          <p:nvPr/>
        </p:nvPicPr>
        <p:blipFill>
          <a:blip r:embed="rId4"/>
          <a:stretch>
            <a:fillRect/>
          </a:stretch>
        </p:blipFill>
        <p:spPr>
          <a:xfrm>
            <a:off x="6750101" y="2178101"/>
            <a:ext cx="307238" cy="307238"/>
          </a:xfrm>
          <a:prstGeom prst="rect">
            <a:avLst/>
          </a:prstGeom>
        </p:spPr>
      </p:pic>
      <p:sp>
        <p:nvSpPr>
          <p:cNvPr id="12" name="Text 8"/>
          <p:cNvSpPr/>
          <p:nvPr/>
        </p:nvSpPr>
        <p:spPr>
          <a:xfrm>
            <a:off x="7406640" y="1984248"/>
            <a:ext cx="402336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Parsing, Calculation &amp; Sorting</a:t>
            </a:r>
            <a:endParaRPr lang="en-US" sz="1500" dirty="0"/>
          </a:p>
        </p:txBody>
      </p:sp>
      <p:sp>
        <p:nvSpPr>
          <p:cNvPr id="13" name="Text 9"/>
          <p:cNvSpPr/>
          <p:nvPr/>
        </p:nvSpPr>
        <p:spPr>
          <a:xfrm>
            <a:off x="6583680" y="2743200"/>
            <a:ext cx="4754880" cy="82296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Apply appropriate parsing, calculation, and sorting logic for accurate result generation.</a:t>
            </a:r>
            <a:endParaRPr lang="en-US" sz="1150" dirty="0"/>
          </a:p>
        </p:txBody>
      </p:sp>
      <p:sp>
        <p:nvSpPr>
          <p:cNvPr id="14" name="Shape 10"/>
          <p:cNvSpPr/>
          <p:nvPr/>
        </p:nvSpPr>
        <p:spPr>
          <a:xfrm>
            <a:off x="502920" y="3977640"/>
            <a:ext cx="5394960" cy="1965960"/>
          </a:xfrm>
          <a:prstGeom prst="roundRect">
            <a:avLst>
              <a:gd name="adj" fmla="val 3721"/>
            </a:avLst>
          </a:prstGeom>
          <a:solidFill>
            <a:srgbClr val="FFFFFF"/>
          </a:solidFill>
          <a:ln/>
          <a:effectLst>
            <a:outerShdw blurRad="76200" dist="25400" dir="5400000" algn="bl" rotWithShape="0">
              <a:srgbClr val="444444">
                <a:alpha val="15000"/>
              </a:srgbClr>
            </a:outerShdw>
          </a:effectLst>
        </p:spPr>
      </p:sp>
      <p:sp>
        <p:nvSpPr>
          <p:cNvPr id="15" name="Shape 11"/>
          <p:cNvSpPr/>
          <p:nvPr/>
        </p:nvSpPr>
        <p:spPr>
          <a:xfrm>
            <a:off x="822960" y="4297680"/>
            <a:ext cx="640080" cy="640080"/>
          </a:xfrm>
          <a:prstGeom prst="ellipse">
            <a:avLst/>
          </a:prstGeom>
          <a:solidFill>
            <a:srgbClr val="CADCFC"/>
          </a:solidFill>
          <a:ln/>
        </p:spPr>
      </p:sp>
      <p:pic>
        <p:nvPicPr>
          <p:cNvPr id="16" name="Image 2" descr="/home/claude/icons/json.png"/>
          <p:cNvPicPr>
            <a:picLocks noChangeAspect="1"/>
          </p:cNvPicPr>
          <p:nvPr/>
        </p:nvPicPr>
        <p:blipFill>
          <a:blip r:embed="rId5"/>
          <a:stretch>
            <a:fillRect/>
          </a:stretch>
        </p:blipFill>
        <p:spPr>
          <a:xfrm>
            <a:off x="989381" y="4464101"/>
            <a:ext cx="307238" cy="307238"/>
          </a:xfrm>
          <a:prstGeom prst="rect">
            <a:avLst/>
          </a:prstGeom>
        </p:spPr>
      </p:pic>
      <p:sp>
        <p:nvSpPr>
          <p:cNvPr id="17" name="Text 12"/>
          <p:cNvSpPr/>
          <p:nvPr/>
        </p:nvSpPr>
        <p:spPr>
          <a:xfrm>
            <a:off x="1645920" y="4270248"/>
            <a:ext cx="402336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JSON Compliance</a:t>
            </a:r>
            <a:endParaRPr lang="en-US" sz="1500" dirty="0"/>
          </a:p>
        </p:txBody>
      </p:sp>
      <p:sp>
        <p:nvSpPr>
          <p:cNvPr id="18" name="Text 13"/>
          <p:cNvSpPr/>
          <p:nvPr/>
        </p:nvSpPr>
        <p:spPr>
          <a:xfrm>
            <a:off x="822960" y="5029200"/>
            <a:ext cx="4754880" cy="82296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Ensure all output conforms to JSON standards for downstream integration with academic platforms.</a:t>
            </a:r>
            <a:endParaRPr lang="en-US" sz="1150" dirty="0"/>
          </a:p>
        </p:txBody>
      </p:sp>
      <p:sp>
        <p:nvSpPr>
          <p:cNvPr id="19" name="Shape 14"/>
          <p:cNvSpPr/>
          <p:nvPr/>
        </p:nvSpPr>
        <p:spPr>
          <a:xfrm>
            <a:off x="6263640" y="3977640"/>
            <a:ext cx="5394960" cy="1965960"/>
          </a:xfrm>
          <a:prstGeom prst="roundRect">
            <a:avLst>
              <a:gd name="adj" fmla="val 3721"/>
            </a:avLst>
          </a:prstGeom>
          <a:solidFill>
            <a:srgbClr val="FFFFFF"/>
          </a:solidFill>
          <a:ln/>
          <a:effectLst>
            <a:outerShdw blurRad="76200" dist="25400" dir="5400000" algn="bl" rotWithShape="0">
              <a:srgbClr val="444444">
                <a:alpha val="15000"/>
              </a:srgbClr>
            </a:outerShdw>
          </a:effectLst>
        </p:spPr>
      </p:sp>
      <p:sp>
        <p:nvSpPr>
          <p:cNvPr id="20" name="Shape 15"/>
          <p:cNvSpPr/>
          <p:nvPr/>
        </p:nvSpPr>
        <p:spPr>
          <a:xfrm>
            <a:off x="6583680" y="4297680"/>
            <a:ext cx="640080" cy="640080"/>
          </a:xfrm>
          <a:prstGeom prst="ellipse">
            <a:avLst/>
          </a:prstGeom>
          <a:solidFill>
            <a:srgbClr val="CADCFC"/>
          </a:solidFill>
          <a:ln/>
        </p:spPr>
      </p:sp>
      <p:pic>
        <p:nvPicPr>
          <p:cNvPr id="21" name="Image 3" descr="/home/claude/icons/chart.png"/>
          <p:cNvPicPr>
            <a:picLocks noChangeAspect="1"/>
          </p:cNvPicPr>
          <p:nvPr/>
        </p:nvPicPr>
        <p:blipFill>
          <a:blip r:embed="rId6"/>
          <a:stretch>
            <a:fillRect/>
          </a:stretch>
        </p:blipFill>
        <p:spPr>
          <a:xfrm>
            <a:off x="6750101" y="4464101"/>
            <a:ext cx="307238" cy="307238"/>
          </a:xfrm>
          <a:prstGeom prst="rect">
            <a:avLst/>
          </a:prstGeom>
        </p:spPr>
      </p:pic>
      <p:sp>
        <p:nvSpPr>
          <p:cNvPr id="22" name="Text 16"/>
          <p:cNvSpPr/>
          <p:nvPr/>
        </p:nvSpPr>
        <p:spPr>
          <a:xfrm>
            <a:off x="7406640" y="4270248"/>
            <a:ext cx="4023360" cy="365760"/>
          </a:xfrm>
          <a:prstGeom prst="rect">
            <a:avLst/>
          </a:prstGeom>
          <a:noFill/>
          <a:ln/>
        </p:spPr>
        <p:txBody>
          <a:bodyPr wrap="square" rtlCol="0" anchor="ctr"/>
          <a:lstStyle/>
          <a:p>
            <a:pPr marL="0" indent="0">
              <a:buNone/>
            </a:pPr>
            <a:r>
              <a:rPr lang="en-US" sz="1500" b="1" dirty="0">
                <a:solidFill>
                  <a:srgbClr val="1A1A2E"/>
                </a:solidFill>
                <a:latin typeface="Calibri" pitchFamily="34" charset="0"/>
                <a:ea typeface="Calibri" pitchFamily="34" charset="-122"/>
                <a:cs typeface="Calibri" pitchFamily="34" charset="-120"/>
              </a:rPr>
              <a:t>Optimize Quality</a:t>
            </a:r>
            <a:endParaRPr lang="en-US" sz="1500" dirty="0"/>
          </a:p>
        </p:txBody>
      </p:sp>
      <p:sp>
        <p:nvSpPr>
          <p:cNvPr id="23" name="Text 17"/>
          <p:cNvSpPr/>
          <p:nvPr/>
        </p:nvSpPr>
        <p:spPr>
          <a:xfrm>
            <a:off x="6583680" y="5029200"/>
            <a:ext cx="4754880" cy="822960"/>
          </a:xfrm>
          <a:prstGeom prst="rect">
            <a:avLst/>
          </a:prstGeom>
          <a:noFill/>
          <a:ln/>
        </p:spPr>
        <p:txBody>
          <a:bodyPr wrap="square" rtlCol="0" anchor="ctr"/>
          <a:lstStyle/>
          <a:p>
            <a:pPr marL="0" indent="0">
              <a:lnSpc>
                <a:spcPts val="1500"/>
              </a:lnSpc>
              <a:buNone/>
            </a:pPr>
            <a:r>
              <a:rPr lang="en-US" sz="1150" dirty="0">
                <a:solidFill>
                  <a:srgbClr val="6B7280"/>
                </a:solidFill>
                <a:latin typeface="Calibri" pitchFamily="34" charset="0"/>
                <a:ea typeface="Calibri" pitchFamily="34" charset="-122"/>
                <a:cs typeface="Calibri" pitchFamily="34" charset="-120"/>
              </a:rPr>
              <a:t>Optimize the solution for accuracy, performance, and overall code quality.</a:t>
            </a:r>
            <a:endParaRPr lang="en-US" sz="1150" dirty="0"/>
          </a:p>
        </p:txBody>
      </p:sp>
      <p:sp>
        <p:nvSpPr>
          <p:cNvPr id="24" name="Text 18"/>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Student Result Processing System  •  Shivam Singh</a:t>
            </a:r>
            <a:endParaRPr lang="en-US" sz="1000" dirty="0"/>
          </a:p>
        </p:txBody>
      </p:sp>
      <p:sp>
        <p:nvSpPr>
          <p:cNvPr id="25"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TECHNOLOGIES &amp; TOOLS</a:t>
            </a:r>
            <a:endParaRPr lang="en-US" sz="1200" dirty="0"/>
          </a:p>
        </p:txBody>
      </p:sp>
      <p:sp>
        <p:nvSpPr>
          <p:cNvPr id="3" name="Text 1"/>
          <p:cNvSpPr/>
          <p:nvPr/>
        </p:nvSpPr>
        <p:spPr>
          <a:xfrm>
            <a:off x="484632" y="731520"/>
            <a:ext cx="10972800" cy="640080"/>
          </a:xfrm>
          <a:prstGeom prst="rect">
            <a:avLst/>
          </a:prstGeom>
          <a:noFill/>
          <a:ln/>
        </p:spPr>
        <p:txBody>
          <a:bodyPr wrap="square" rtlCol="0" anchor="ctr"/>
          <a:lstStyle/>
          <a:p>
            <a:pPr marL="0" indent="0">
              <a:buNone/>
            </a:pPr>
            <a:r>
              <a:rPr lang="en-US" sz="3200" b="1" dirty="0">
                <a:solidFill>
                  <a:srgbClr val="1A1A2E"/>
                </a:solidFill>
                <a:latin typeface="Cambria" pitchFamily="34" charset="0"/>
                <a:ea typeface="Cambria" pitchFamily="34" charset="-122"/>
                <a:cs typeface="Cambria" pitchFamily="34" charset="-120"/>
              </a:rPr>
              <a:t>The Toolkit Behind the Project</a:t>
            </a:r>
            <a:endParaRPr lang="en-US" sz="3200" dirty="0"/>
          </a:p>
        </p:txBody>
      </p:sp>
      <p:sp>
        <p:nvSpPr>
          <p:cNvPr id="4" name="Shape 2"/>
          <p:cNvSpPr/>
          <p:nvPr/>
        </p:nvSpPr>
        <p:spPr>
          <a:xfrm>
            <a:off x="502920" y="1691640"/>
            <a:ext cx="2606040" cy="1920240"/>
          </a:xfrm>
          <a:prstGeom prst="roundRect">
            <a:avLst>
              <a:gd name="adj" fmla="val 2857"/>
            </a:avLst>
          </a:prstGeom>
          <a:solidFill>
            <a:srgbClr val="F2F5FC"/>
          </a:solidFill>
          <a:ln/>
        </p:spPr>
      </p:sp>
      <p:sp>
        <p:nvSpPr>
          <p:cNvPr id="5" name="Shape 3"/>
          <p:cNvSpPr/>
          <p:nvPr/>
        </p:nvSpPr>
        <p:spPr>
          <a:xfrm>
            <a:off x="1440180" y="1965960"/>
            <a:ext cx="731520" cy="731520"/>
          </a:xfrm>
          <a:prstGeom prst="ellipse">
            <a:avLst/>
          </a:prstGeom>
          <a:solidFill>
            <a:srgbClr val="FFFFFF"/>
          </a:solidFill>
          <a:ln/>
        </p:spPr>
      </p:sp>
      <p:pic>
        <p:nvPicPr>
          <p:cNvPr id="6" name="Image 0" descr="/home/claude/icons/java.png"/>
          <p:cNvPicPr>
            <a:picLocks noChangeAspect="1"/>
          </p:cNvPicPr>
          <p:nvPr/>
        </p:nvPicPr>
        <p:blipFill>
          <a:blip r:embed="rId3"/>
          <a:stretch>
            <a:fillRect/>
          </a:stretch>
        </p:blipFill>
        <p:spPr>
          <a:xfrm>
            <a:off x="1630375" y="2156155"/>
            <a:ext cx="351130" cy="351130"/>
          </a:xfrm>
          <a:prstGeom prst="rect">
            <a:avLst/>
          </a:prstGeom>
        </p:spPr>
      </p:pic>
      <p:sp>
        <p:nvSpPr>
          <p:cNvPr id="7" name="Text 4"/>
          <p:cNvSpPr/>
          <p:nvPr/>
        </p:nvSpPr>
        <p:spPr>
          <a:xfrm>
            <a:off x="594360" y="2834640"/>
            <a:ext cx="2423160" cy="32004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Java</a:t>
            </a:r>
            <a:endParaRPr lang="en-US" sz="1300" dirty="0"/>
          </a:p>
        </p:txBody>
      </p:sp>
      <p:sp>
        <p:nvSpPr>
          <p:cNvPr id="8" name="Text 5"/>
          <p:cNvSpPr/>
          <p:nvPr/>
        </p:nvSpPr>
        <p:spPr>
          <a:xfrm>
            <a:off x="612648" y="3154680"/>
            <a:ext cx="2386584" cy="41148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Core programming language</a:t>
            </a:r>
            <a:endParaRPr lang="en-US" sz="950" dirty="0"/>
          </a:p>
        </p:txBody>
      </p:sp>
      <p:sp>
        <p:nvSpPr>
          <p:cNvPr id="9" name="Shape 6"/>
          <p:cNvSpPr/>
          <p:nvPr/>
        </p:nvSpPr>
        <p:spPr>
          <a:xfrm>
            <a:off x="3364992" y="1691640"/>
            <a:ext cx="2606040" cy="1920240"/>
          </a:xfrm>
          <a:prstGeom prst="roundRect">
            <a:avLst>
              <a:gd name="adj" fmla="val 2857"/>
            </a:avLst>
          </a:prstGeom>
          <a:solidFill>
            <a:srgbClr val="F2F5FC"/>
          </a:solidFill>
          <a:ln/>
        </p:spPr>
      </p:sp>
      <p:sp>
        <p:nvSpPr>
          <p:cNvPr id="10" name="Shape 7"/>
          <p:cNvSpPr/>
          <p:nvPr/>
        </p:nvSpPr>
        <p:spPr>
          <a:xfrm>
            <a:off x="4302252" y="1965960"/>
            <a:ext cx="731520" cy="731520"/>
          </a:xfrm>
          <a:prstGeom prst="ellipse">
            <a:avLst/>
          </a:prstGeom>
          <a:solidFill>
            <a:srgbClr val="FFFFFF"/>
          </a:solidFill>
          <a:ln/>
        </p:spPr>
      </p:sp>
      <p:pic>
        <p:nvPicPr>
          <p:cNvPr id="11" name="Image 1" descr="/home/claude/icons/python.png"/>
          <p:cNvPicPr>
            <a:picLocks noChangeAspect="1"/>
          </p:cNvPicPr>
          <p:nvPr/>
        </p:nvPicPr>
        <p:blipFill>
          <a:blip r:embed="rId4"/>
          <a:stretch>
            <a:fillRect/>
          </a:stretch>
        </p:blipFill>
        <p:spPr>
          <a:xfrm>
            <a:off x="4492447" y="2156155"/>
            <a:ext cx="351130" cy="351130"/>
          </a:xfrm>
          <a:prstGeom prst="rect">
            <a:avLst/>
          </a:prstGeom>
        </p:spPr>
      </p:pic>
      <p:sp>
        <p:nvSpPr>
          <p:cNvPr id="12" name="Text 8"/>
          <p:cNvSpPr/>
          <p:nvPr/>
        </p:nvSpPr>
        <p:spPr>
          <a:xfrm>
            <a:off x="3456432" y="2834640"/>
            <a:ext cx="2423160" cy="32004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Python</a:t>
            </a:r>
            <a:endParaRPr lang="en-US" sz="1300" dirty="0"/>
          </a:p>
        </p:txBody>
      </p:sp>
      <p:sp>
        <p:nvSpPr>
          <p:cNvPr id="13" name="Text 9"/>
          <p:cNvSpPr/>
          <p:nvPr/>
        </p:nvSpPr>
        <p:spPr>
          <a:xfrm>
            <a:off x="3474720" y="3154680"/>
            <a:ext cx="2386584" cy="41148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Core programming language</a:t>
            </a:r>
            <a:endParaRPr lang="en-US" sz="950" dirty="0"/>
          </a:p>
        </p:txBody>
      </p:sp>
      <p:sp>
        <p:nvSpPr>
          <p:cNvPr id="14" name="Shape 10"/>
          <p:cNvSpPr/>
          <p:nvPr/>
        </p:nvSpPr>
        <p:spPr>
          <a:xfrm>
            <a:off x="6227064" y="1691640"/>
            <a:ext cx="2606040" cy="1920240"/>
          </a:xfrm>
          <a:prstGeom prst="roundRect">
            <a:avLst>
              <a:gd name="adj" fmla="val 2857"/>
            </a:avLst>
          </a:prstGeom>
          <a:solidFill>
            <a:srgbClr val="F2F5FC"/>
          </a:solidFill>
          <a:ln/>
        </p:spPr>
      </p:sp>
      <p:sp>
        <p:nvSpPr>
          <p:cNvPr id="15" name="Shape 11"/>
          <p:cNvSpPr/>
          <p:nvPr/>
        </p:nvSpPr>
        <p:spPr>
          <a:xfrm>
            <a:off x="7164324" y="1965960"/>
            <a:ext cx="731520" cy="731520"/>
          </a:xfrm>
          <a:prstGeom prst="ellipse">
            <a:avLst/>
          </a:prstGeom>
          <a:solidFill>
            <a:srgbClr val="FFFFFF"/>
          </a:solidFill>
          <a:ln/>
        </p:spPr>
      </p:sp>
      <p:pic>
        <p:nvPicPr>
          <p:cNvPr id="16" name="Image 2" descr="/home/claude/icons/filecsv.png"/>
          <p:cNvPicPr>
            <a:picLocks noChangeAspect="1"/>
          </p:cNvPicPr>
          <p:nvPr/>
        </p:nvPicPr>
        <p:blipFill>
          <a:blip r:embed="rId5"/>
          <a:stretch>
            <a:fillRect/>
          </a:stretch>
        </p:blipFill>
        <p:spPr>
          <a:xfrm>
            <a:off x="7354519" y="2156155"/>
            <a:ext cx="351130" cy="351130"/>
          </a:xfrm>
          <a:prstGeom prst="rect">
            <a:avLst/>
          </a:prstGeom>
        </p:spPr>
      </p:pic>
      <p:sp>
        <p:nvSpPr>
          <p:cNvPr id="17" name="Text 12"/>
          <p:cNvSpPr/>
          <p:nvPr/>
        </p:nvSpPr>
        <p:spPr>
          <a:xfrm>
            <a:off x="6318504" y="2834640"/>
            <a:ext cx="2423160" cy="32004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CSV Parsing</a:t>
            </a:r>
            <a:endParaRPr lang="en-US" sz="1300" dirty="0"/>
          </a:p>
        </p:txBody>
      </p:sp>
      <p:sp>
        <p:nvSpPr>
          <p:cNvPr id="18" name="Text 13"/>
          <p:cNvSpPr/>
          <p:nvPr/>
        </p:nvSpPr>
        <p:spPr>
          <a:xfrm>
            <a:off x="6336792" y="3154680"/>
            <a:ext cx="2386584" cy="41148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Reading &amp; normalizing raw data</a:t>
            </a:r>
            <a:endParaRPr lang="en-US" sz="950" dirty="0"/>
          </a:p>
        </p:txBody>
      </p:sp>
      <p:sp>
        <p:nvSpPr>
          <p:cNvPr id="19" name="Shape 14"/>
          <p:cNvSpPr/>
          <p:nvPr/>
        </p:nvSpPr>
        <p:spPr>
          <a:xfrm>
            <a:off x="9089136" y="1691640"/>
            <a:ext cx="2606040" cy="1920240"/>
          </a:xfrm>
          <a:prstGeom prst="roundRect">
            <a:avLst>
              <a:gd name="adj" fmla="val 2857"/>
            </a:avLst>
          </a:prstGeom>
          <a:solidFill>
            <a:srgbClr val="F2F5FC"/>
          </a:solidFill>
          <a:ln/>
        </p:spPr>
      </p:sp>
      <p:sp>
        <p:nvSpPr>
          <p:cNvPr id="20" name="Shape 15"/>
          <p:cNvSpPr/>
          <p:nvPr/>
        </p:nvSpPr>
        <p:spPr>
          <a:xfrm>
            <a:off x="10026396" y="1965960"/>
            <a:ext cx="731520" cy="731520"/>
          </a:xfrm>
          <a:prstGeom prst="ellipse">
            <a:avLst/>
          </a:prstGeom>
          <a:solidFill>
            <a:srgbClr val="FFFFFF"/>
          </a:solidFill>
          <a:ln/>
        </p:spPr>
      </p:sp>
      <p:pic>
        <p:nvPicPr>
          <p:cNvPr id="21" name="Image 3" descr="/home/claude/icons/calculator.png"/>
          <p:cNvPicPr>
            <a:picLocks noChangeAspect="1"/>
          </p:cNvPicPr>
          <p:nvPr/>
        </p:nvPicPr>
        <p:blipFill>
          <a:blip r:embed="rId6"/>
          <a:stretch>
            <a:fillRect/>
          </a:stretch>
        </p:blipFill>
        <p:spPr>
          <a:xfrm>
            <a:off x="10216591" y="2156155"/>
            <a:ext cx="351130" cy="351130"/>
          </a:xfrm>
          <a:prstGeom prst="rect">
            <a:avLst/>
          </a:prstGeom>
        </p:spPr>
      </p:pic>
      <p:sp>
        <p:nvSpPr>
          <p:cNvPr id="22" name="Text 16"/>
          <p:cNvSpPr/>
          <p:nvPr/>
        </p:nvSpPr>
        <p:spPr>
          <a:xfrm>
            <a:off x="9180576" y="2834640"/>
            <a:ext cx="2423160" cy="32004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Math Operations</a:t>
            </a:r>
            <a:endParaRPr lang="en-US" sz="1300" dirty="0"/>
          </a:p>
        </p:txBody>
      </p:sp>
      <p:sp>
        <p:nvSpPr>
          <p:cNvPr id="23" name="Text 17"/>
          <p:cNvSpPr/>
          <p:nvPr/>
        </p:nvSpPr>
        <p:spPr>
          <a:xfrm>
            <a:off x="9198864" y="3154680"/>
            <a:ext cx="2386584" cy="41148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Totals &amp; percentage logic</a:t>
            </a:r>
            <a:endParaRPr lang="en-US" sz="950" dirty="0"/>
          </a:p>
        </p:txBody>
      </p:sp>
      <p:sp>
        <p:nvSpPr>
          <p:cNvPr id="24" name="Shape 18"/>
          <p:cNvSpPr/>
          <p:nvPr/>
        </p:nvSpPr>
        <p:spPr>
          <a:xfrm>
            <a:off x="502920" y="3886200"/>
            <a:ext cx="2606040" cy="1920240"/>
          </a:xfrm>
          <a:prstGeom prst="roundRect">
            <a:avLst>
              <a:gd name="adj" fmla="val 2857"/>
            </a:avLst>
          </a:prstGeom>
          <a:solidFill>
            <a:srgbClr val="F2F5FC"/>
          </a:solidFill>
          <a:ln/>
        </p:spPr>
      </p:sp>
      <p:sp>
        <p:nvSpPr>
          <p:cNvPr id="25" name="Shape 19"/>
          <p:cNvSpPr/>
          <p:nvPr/>
        </p:nvSpPr>
        <p:spPr>
          <a:xfrm>
            <a:off x="1440180" y="4160520"/>
            <a:ext cx="731520" cy="731520"/>
          </a:xfrm>
          <a:prstGeom prst="ellipse">
            <a:avLst/>
          </a:prstGeom>
          <a:solidFill>
            <a:srgbClr val="FFFFFF"/>
          </a:solidFill>
          <a:ln/>
        </p:spPr>
      </p:sp>
      <p:pic>
        <p:nvPicPr>
          <p:cNvPr id="26" name="Image 4" descr="/home/claude/icons/sort.png"/>
          <p:cNvPicPr>
            <a:picLocks noChangeAspect="1"/>
          </p:cNvPicPr>
          <p:nvPr/>
        </p:nvPicPr>
        <p:blipFill>
          <a:blip r:embed="rId7"/>
          <a:stretch>
            <a:fillRect/>
          </a:stretch>
        </p:blipFill>
        <p:spPr>
          <a:xfrm>
            <a:off x="1630375" y="4350715"/>
            <a:ext cx="351130" cy="351130"/>
          </a:xfrm>
          <a:prstGeom prst="rect">
            <a:avLst/>
          </a:prstGeom>
        </p:spPr>
      </p:pic>
      <p:sp>
        <p:nvSpPr>
          <p:cNvPr id="27" name="Text 20"/>
          <p:cNvSpPr/>
          <p:nvPr/>
        </p:nvSpPr>
        <p:spPr>
          <a:xfrm>
            <a:off x="594360" y="5029200"/>
            <a:ext cx="2423160" cy="32004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Sorting Algorithms</a:t>
            </a:r>
            <a:endParaRPr lang="en-US" sz="1300" dirty="0"/>
          </a:p>
        </p:txBody>
      </p:sp>
      <p:sp>
        <p:nvSpPr>
          <p:cNvPr id="28" name="Text 21"/>
          <p:cNvSpPr/>
          <p:nvPr/>
        </p:nvSpPr>
        <p:spPr>
          <a:xfrm>
            <a:off x="612648" y="5349240"/>
            <a:ext cx="2386584" cy="41148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Descending rank by total marks</a:t>
            </a:r>
            <a:endParaRPr lang="en-US" sz="950" dirty="0"/>
          </a:p>
        </p:txBody>
      </p:sp>
      <p:sp>
        <p:nvSpPr>
          <p:cNvPr id="29" name="Shape 22"/>
          <p:cNvSpPr/>
          <p:nvPr/>
        </p:nvSpPr>
        <p:spPr>
          <a:xfrm>
            <a:off x="3364992" y="3886200"/>
            <a:ext cx="2606040" cy="1920240"/>
          </a:xfrm>
          <a:prstGeom prst="roundRect">
            <a:avLst>
              <a:gd name="adj" fmla="val 2857"/>
            </a:avLst>
          </a:prstGeom>
          <a:solidFill>
            <a:srgbClr val="F2F5FC"/>
          </a:solidFill>
          <a:ln/>
        </p:spPr>
      </p:sp>
      <p:sp>
        <p:nvSpPr>
          <p:cNvPr id="30" name="Shape 23"/>
          <p:cNvSpPr/>
          <p:nvPr/>
        </p:nvSpPr>
        <p:spPr>
          <a:xfrm>
            <a:off x="4302252" y="4160520"/>
            <a:ext cx="731520" cy="731520"/>
          </a:xfrm>
          <a:prstGeom prst="ellipse">
            <a:avLst/>
          </a:prstGeom>
          <a:solidFill>
            <a:srgbClr val="FFFFFF"/>
          </a:solidFill>
          <a:ln/>
        </p:spPr>
      </p:sp>
      <p:pic>
        <p:nvPicPr>
          <p:cNvPr id="31" name="Image 5" descr="/home/claude/icons/json.png"/>
          <p:cNvPicPr>
            <a:picLocks noChangeAspect="1"/>
          </p:cNvPicPr>
          <p:nvPr/>
        </p:nvPicPr>
        <p:blipFill>
          <a:blip r:embed="rId8"/>
          <a:stretch>
            <a:fillRect/>
          </a:stretch>
        </p:blipFill>
        <p:spPr>
          <a:xfrm>
            <a:off x="4492447" y="4350715"/>
            <a:ext cx="351130" cy="351130"/>
          </a:xfrm>
          <a:prstGeom prst="rect">
            <a:avLst/>
          </a:prstGeom>
        </p:spPr>
      </p:pic>
      <p:sp>
        <p:nvSpPr>
          <p:cNvPr id="32" name="Text 24"/>
          <p:cNvSpPr/>
          <p:nvPr/>
        </p:nvSpPr>
        <p:spPr>
          <a:xfrm>
            <a:off x="3456432" y="5029200"/>
            <a:ext cx="2423160" cy="32004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JSON Formatting</a:t>
            </a:r>
            <a:endParaRPr lang="en-US" sz="1300" dirty="0"/>
          </a:p>
        </p:txBody>
      </p:sp>
      <p:sp>
        <p:nvSpPr>
          <p:cNvPr id="33" name="Text 25"/>
          <p:cNvSpPr/>
          <p:nvPr/>
        </p:nvSpPr>
        <p:spPr>
          <a:xfrm>
            <a:off x="3474720" y="5349240"/>
            <a:ext cx="2386584" cy="41148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Interoperable structured output</a:t>
            </a:r>
            <a:endParaRPr lang="en-US" sz="950" dirty="0"/>
          </a:p>
        </p:txBody>
      </p:sp>
      <p:sp>
        <p:nvSpPr>
          <p:cNvPr id="34" name="Shape 26"/>
          <p:cNvSpPr/>
          <p:nvPr/>
        </p:nvSpPr>
        <p:spPr>
          <a:xfrm>
            <a:off x="6227064" y="3886200"/>
            <a:ext cx="2606040" cy="1920240"/>
          </a:xfrm>
          <a:prstGeom prst="roundRect">
            <a:avLst>
              <a:gd name="adj" fmla="val 2857"/>
            </a:avLst>
          </a:prstGeom>
          <a:solidFill>
            <a:srgbClr val="F2F5FC"/>
          </a:solidFill>
          <a:ln/>
        </p:spPr>
      </p:sp>
      <p:sp>
        <p:nvSpPr>
          <p:cNvPr id="35" name="Shape 27"/>
          <p:cNvSpPr/>
          <p:nvPr/>
        </p:nvSpPr>
        <p:spPr>
          <a:xfrm>
            <a:off x="7164324" y="4160520"/>
            <a:ext cx="731520" cy="731520"/>
          </a:xfrm>
          <a:prstGeom prst="ellipse">
            <a:avLst/>
          </a:prstGeom>
          <a:solidFill>
            <a:srgbClr val="FFFFFF"/>
          </a:solidFill>
          <a:ln/>
        </p:spPr>
      </p:sp>
      <p:pic>
        <p:nvPicPr>
          <p:cNvPr id="36" name="Image 6" descr="/home/claude/icons/cogs.png"/>
          <p:cNvPicPr>
            <a:picLocks noChangeAspect="1"/>
          </p:cNvPicPr>
          <p:nvPr/>
        </p:nvPicPr>
        <p:blipFill>
          <a:blip r:embed="rId9"/>
          <a:stretch>
            <a:fillRect/>
          </a:stretch>
        </p:blipFill>
        <p:spPr>
          <a:xfrm>
            <a:off x="7354519" y="4350715"/>
            <a:ext cx="351130" cy="351130"/>
          </a:xfrm>
          <a:prstGeom prst="rect">
            <a:avLst/>
          </a:prstGeom>
        </p:spPr>
      </p:pic>
      <p:sp>
        <p:nvSpPr>
          <p:cNvPr id="37" name="Text 28"/>
          <p:cNvSpPr/>
          <p:nvPr/>
        </p:nvSpPr>
        <p:spPr>
          <a:xfrm>
            <a:off x="6318504" y="5029200"/>
            <a:ext cx="2423160" cy="32004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Conditional Logic</a:t>
            </a:r>
            <a:endParaRPr lang="en-US" sz="1300" dirty="0"/>
          </a:p>
        </p:txBody>
      </p:sp>
      <p:sp>
        <p:nvSpPr>
          <p:cNvPr id="38" name="Text 29"/>
          <p:cNvSpPr/>
          <p:nvPr/>
        </p:nvSpPr>
        <p:spPr>
          <a:xfrm>
            <a:off x="6336792" y="5349240"/>
            <a:ext cx="2386584" cy="41148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Grade-band determination</a:t>
            </a:r>
            <a:endParaRPr lang="en-US" sz="950" dirty="0"/>
          </a:p>
        </p:txBody>
      </p:sp>
      <p:sp>
        <p:nvSpPr>
          <p:cNvPr id="39" name="Shape 30"/>
          <p:cNvSpPr/>
          <p:nvPr/>
        </p:nvSpPr>
        <p:spPr>
          <a:xfrm>
            <a:off x="9089136" y="3886200"/>
            <a:ext cx="2606040" cy="1920240"/>
          </a:xfrm>
          <a:prstGeom prst="roundRect">
            <a:avLst>
              <a:gd name="adj" fmla="val 2857"/>
            </a:avLst>
          </a:prstGeom>
          <a:solidFill>
            <a:srgbClr val="F2F5FC"/>
          </a:solidFill>
          <a:ln/>
        </p:spPr>
      </p:sp>
      <p:sp>
        <p:nvSpPr>
          <p:cNvPr id="40" name="Shape 31"/>
          <p:cNvSpPr/>
          <p:nvPr/>
        </p:nvSpPr>
        <p:spPr>
          <a:xfrm>
            <a:off x="10026396" y="4160520"/>
            <a:ext cx="731520" cy="731520"/>
          </a:xfrm>
          <a:prstGeom prst="ellipse">
            <a:avLst/>
          </a:prstGeom>
          <a:solidFill>
            <a:srgbClr val="FFFFFF"/>
          </a:solidFill>
          <a:ln/>
        </p:spPr>
      </p:sp>
      <p:pic>
        <p:nvPicPr>
          <p:cNvPr id="41" name="Image 7" descr="/home/claude/icons/cloudserver.png"/>
          <p:cNvPicPr>
            <a:picLocks noChangeAspect="1"/>
          </p:cNvPicPr>
          <p:nvPr/>
        </p:nvPicPr>
        <p:blipFill>
          <a:blip r:embed="rId10"/>
          <a:stretch>
            <a:fillRect/>
          </a:stretch>
        </p:blipFill>
        <p:spPr>
          <a:xfrm>
            <a:off x="10216591" y="4350715"/>
            <a:ext cx="351130" cy="351130"/>
          </a:xfrm>
          <a:prstGeom prst="rect">
            <a:avLst/>
          </a:prstGeom>
        </p:spPr>
      </p:pic>
      <p:sp>
        <p:nvSpPr>
          <p:cNvPr id="42" name="Text 32"/>
          <p:cNvSpPr/>
          <p:nvPr/>
        </p:nvSpPr>
        <p:spPr>
          <a:xfrm>
            <a:off x="9180576" y="5029200"/>
            <a:ext cx="2423160" cy="32004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EduSkills LMS</a:t>
            </a:r>
            <a:endParaRPr lang="en-US" sz="1300" dirty="0"/>
          </a:p>
        </p:txBody>
      </p:sp>
      <p:sp>
        <p:nvSpPr>
          <p:cNvPr id="43" name="Text 33"/>
          <p:cNvSpPr/>
          <p:nvPr/>
        </p:nvSpPr>
        <p:spPr>
          <a:xfrm>
            <a:off x="9198864" y="5349240"/>
            <a:ext cx="2386584" cy="411480"/>
          </a:xfrm>
          <a:prstGeom prst="rect">
            <a:avLst/>
          </a:prstGeom>
          <a:noFill/>
          <a:ln/>
        </p:spPr>
        <p:txBody>
          <a:bodyPr wrap="square" rtlCol="0" anchor="ctr"/>
          <a:lstStyle/>
          <a:p>
            <a:pPr marL="0" indent="0" algn="ctr">
              <a:buNone/>
            </a:pPr>
            <a:r>
              <a:rPr lang="en-US" sz="950" dirty="0">
                <a:solidFill>
                  <a:srgbClr val="6B7280"/>
                </a:solidFill>
                <a:latin typeface="Calibri" pitchFamily="34" charset="0"/>
                <a:ea typeface="Calibri" pitchFamily="34" charset="-122"/>
                <a:cs typeface="Calibri" pitchFamily="34" charset="-120"/>
              </a:rPr>
              <a:t>Virtual internship environment</a:t>
            </a:r>
            <a:endParaRPr lang="en-US" sz="950" dirty="0"/>
          </a:p>
        </p:txBody>
      </p:sp>
      <p:sp>
        <p:nvSpPr>
          <p:cNvPr id="44" name="Text 34"/>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Student Result Processing System  •  Shivam Singh</a:t>
            </a:r>
            <a:endParaRPr lang="en-US" sz="1000" dirty="0"/>
          </a:p>
        </p:txBody>
      </p:sp>
      <p:sp>
        <p:nvSpPr>
          <p:cNvPr id="45" name="Text 3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marL="0" indent="0">
              <a:buNone/>
            </a:pPr>
            <a:r>
              <a:rPr lang="en-US" sz="1200" b="1" kern="0" spc="200" dirty="0">
                <a:solidFill>
                  <a:srgbClr val="E8A93B"/>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484632" y="731520"/>
            <a:ext cx="109728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 Sequential, Pipeline-Based Design</a:t>
            </a:r>
            <a:endParaRPr lang="en-US" sz="3200" dirty="0"/>
          </a:p>
        </p:txBody>
      </p:sp>
      <p:sp>
        <p:nvSpPr>
          <p:cNvPr id="4" name="Shape 2"/>
          <p:cNvSpPr/>
          <p:nvPr/>
        </p:nvSpPr>
        <p:spPr>
          <a:xfrm>
            <a:off x="502920" y="1572768"/>
            <a:ext cx="11155680" cy="566928"/>
          </a:xfrm>
          <a:prstGeom prst="roundRect">
            <a:avLst>
              <a:gd name="adj" fmla="val 8065"/>
            </a:avLst>
          </a:prstGeom>
          <a:solidFill>
            <a:srgbClr val="161C4D"/>
          </a:solidFill>
          <a:ln/>
        </p:spPr>
      </p:sp>
      <p:sp>
        <p:nvSpPr>
          <p:cNvPr id="5" name="Shape 3"/>
          <p:cNvSpPr/>
          <p:nvPr/>
        </p:nvSpPr>
        <p:spPr>
          <a:xfrm>
            <a:off x="713232" y="1655064"/>
            <a:ext cx="402336" cy="402336"/>
          </a:xfrm>
          <a:prstGeom prst="ellipse">
            <a:avLst/>
          </a:prstGeom>
          <a:solidFill>
            <a:srgbClr val="2A3470"/>
          </a:solidFill>
          <a:ln/>
        </p:spPr>
      </p:sp>
      <p:pic>
        <p:nvPicPr>
          <p:cNvPr id="6" name="Image 0" descr="/home/claude/icons/filecsv_white.png"/>
          <p:cNvPicPr>
            <a:picLocks noChangeAspect="1"/>
          </p:cNvPicPr>
          <p:nvPr/>
        </p:nvPicPr>
        <p:blipFill>
          <a:blip r:embed="rId3"/>
          <a:stretch>
            <a:fillRect/>
          </a:stretch>
        </p:blipFill>
        <p:spPr>
          <a:xfrm>
            <a:off x="817839" y="1759671"/>
            <a:ext cx="193121" cy="193121"/>
          </a:xfrm>
          <a:prstGeom prst="rect">
            <a:avLst/>
          </a:prstGeom>
        </p:spPr>
      </p:pic>
      <p:sp>
        <p:nvSpPr>
          <p:cNvPr id="7" name="Text 4"/>
          <p:cNvSpPr/>
          <p:nvPr/>
        </p:nvSpPr>
        <p:spPr>
          <a:xfrm>
            <a:off x="1280160" y="1572768"/>
            <a:ext cx="329184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Raw CSV Input</a:t>
            </a:r>
            <a:endParaRPr lang="en-US" sz="1300" dirty="0"/>
          </a:p>
        </p:txBody>
      </p:sp>
      <p:sp>
        <p:nvSpPr>
          <p:cNvPr id="8" name="Text 5"/>
          <p:cNvSpPr/>
          <p:nvPr/>
        </p:nvSpPr>
        <p:spPr>
          <a:xfrm>
            <a:off x="4709160" y="1572768"/>
            <a:ext cx="6766560" cy="566928"/>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Student names &amp; subject-wise marks supplied as CSV</a:t>
            </a:r>
            <a:endParaRPr lang="en-US" sz="1150" dirty="0"/>
          </a:p>
        </p:txBody>
      </p:sp>
      <p:sp>
        <p:nvSpPr>
          <p:cNvPr id="9" name="Shape 6"/>
          <p:cNvSpPr/>
          <p:nvPr/>
        </p:nvSpPr>
        <p:spPr>
          <a:xfrm>
            <a:off x="502920" y="2208276"/>
            <a:ext cx="11155680" cy="566928"/>
          </a:xfrm>
          <a:prstGeom prst="roundRect">
            <a:avLst>
              <a:gd name="adj" fmla="val 8065"/>
            </a:avLst>
          </a:prstGeom>
          <a:solidFill>
            <a:srgbClr val="161C4D"/>
          </a:solidFill>
          <a:ln/>
        </p:spPr>
      </p:sp>
      <p:sp>
        <p:nvSpPr>
          <p:cNvPr id="10" name="Shape 7"/>
          <p:cNvSpPr/>
          <p:nvPr/>
        </p:nvSpPr>
        <p:spPr>
          <a:xfrm>
            <a:off x="713232" y="2290572"/>
            <a:ext cx="402336" cy="402336"/>
          </a:xfrm>
          <a:prstGeom prst="ellipse">
            <a:avLst/>
          </a:prstGeom>
          <a:solidFill>
            <a:srgbClr val="2A3470"/>
          </a:solidFill>
          <a:ln/>
        </p:spPr>
      </p:sp>
      <p:pic>
        <p:nvPicPr>
          <p:cNvPr id="11" name="Image 1" descr="/home/claude/icons/cogs_white.png"/>
          <p:cNvPicPr>
            <a:picLocks noChangeAspect="1"/>
          </p:cNvPicPr>
          <p:nvPr/>
        </p:nvPicPr>
        <p:blipFill>
          <a:blip r:embed="rId4"/>
          <a:stretch>
            <a:fillRect/>
          </a:stretch>
        </p:blipFill>
        <p:spPr>
          <a:xfrm>
            <a:off x="817839" y="2395179"/>
            <a:ext cx="193121" cy="193121"/>
          </a:xfrm>
          <a:prstGeom prst="rect">
            <a:avLst/>
          </a:prstGeom>
        </p:spPr>
      </p:pic>
      <p:sp>
        <p:nvSpPr>
          <p:cNvPr id="12" name="Text 8"/>
          <p:cNvSpPr/>
          <p:nvPr/>
        </p:nvSpPr>
        <p:spPr>
          <a:xfrm>
            <a:off x="1280160" y="2208276"/>
            <a:ext cx="329184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Parsing &amp; Normalization</a:t>
            </a:r>
            <a:endParaRPr lang="en-US" sz="1300" dirty="0"/>
          </a:p>
        </p:txBody>
      </p:sp>
      <p:sp>
        <p:nvSpPr>
          <p:cNvPr id="13" name="Text 9"/>
          <p:cNvSpPr/>
          <p:nvPr/>
        </p:nvSpPr>
        <p:spPr>
          <a:xfrm>
            <a:off x="4709160" y="2208276"/>
            <a:ext cx="6766560" cy="566928"/>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Lines cleaned, whitespace stripped, fields validated</a:t>
            </a:r>
            <a:endParaRPr lang="en-US" sz="1150" dirty="0"/>
          </a:p>
        </p:txBody>
      </p:sp>
      <p:sp>
        <p:nvSpPr>
          <p:cNvPr id="14" name="Shape 10"/>
          <p:cNvSpPr/>
          <p:nvPr/>
        </p:nvSpPr>
        <p:spPr>
          <a:xfrm>
            <a:off x="502920" y="2843784"/>
            <a:ext cx="11155680" cy="566928"/>
          </a:xfrm>
          <a:prstGeom prst="roundRect">
            <a:avLst>
              <a:gd name="adj" fmla="val 8065"/>
            </a:avLst>
          </a:prstGeom>
          <a:solidFill>
            <a:srgbClr val="161C4D"/>
          </a:solidFill>
          <a:ln/>
        </p:spPr>
      </p:sp>
      <p:sp>
        <p:nvSpPr>
          <p:cNvPr id="15" name="Shape 11"/>
          <p:cNvSpPr/>
          <p:nvPr/>
        </p:nvSpPr>
        <p:spPr>
          <a:xfrm>
            <a:off x="713232" y="2926080"/>
            <a:ext cx="402336" cy="402336"/>
          </a:xfrm>
          <a:prstGeom prst="ellipse">
            <a:avLst/>
          </a:prstGeom>
          <a:solidFill>
            <a:srgbClr val="2A3470"/>
          </a:solidFill>
          <a:ln/>
        </p:spPr>
      </p:sp>
      <p:pic>
        <p:nvPicPr>
          <p:cNvPr id="16" name="Image 2" descr="/home/claude/icons/calculator_white.png"/>
          <p:cNvPicPr>
            <a:picLocks noChangeAspect="1"/>
          </p:cNvPicPr>
          <p:nvPr/>
        </p:nvPicPr>
        <p:blipFill>
          <a:blip r:embed="rId5"/>
          <a:stretch>
            <a:fillRect/>
          </a:stretch>
        </p:blipFill>
        <p:spPr>
          <a:xfrm>
            <a:off x="817839" y="3030687"/>
            <a:ext cx="193121" cy="193121"/>
          </a:xfrm>
          <a:prstGeom prst="rect">
            <a:avLst/>
          </a:prstGeom>
        </p:spPr>
      </p:pic>
      <p:sp>
        <p:nvSpPr>
          <p:cNvPr id="17" name="Text 12"/>
          <p:cNvSpPr/>
          <p:nvPr/>
        </p:nvSpPr>
        <p:spPr>
          <a:xfrm>
            <a:off x="1280160" y="2843784"/>
            <a:ext cx="329184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Total Marks Calculation</a:t>
            </a:r>
            <a:endParaRPr lang="en-US" sz="1300" dirty="0"/>
          </a:p>
        </p:txBody>
      </p:sp>
      <p:sp>
        <p:nvSpPr>
          <p:cNvPr id="18" name="Text 13"/>
          <p:cNvSpPr/>
          <p:nvPr/>
        </p:nvSpPr>
        <p:spPr>
          <a:xfrm>
            <a:off x="4709160" y="2843784"/>
            <a:ext cx="6766560" cy="566928"/>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Marks across three subjects summed per student</a:t>
            </a:r>
            <a:endParaRPr lang="en-US" sz="1150" dirty="0"/>
          </a:p>
        </p:txBody>
      </p:sp>
      <p:sp>
        <p:nvSpPr>
          <p:cNvPr id="19" name="Shape 14"/>
          <p:cNvSpPr/>
          <p:nvPr/>
        </p:nvSpPr>
        <p:spPr>
          <a:xfrm>
            <a:off x="502920" y="3479292"/>
            <a:ext cx="11155680" cy="566928"/>
          </a:xfrm>
          <a:prstGeom prst="roundRect">
            <a:avLst>
              <a:gd name="adj" fmla="val 8065"/>
            </a:avLst>
          </a:prstGeom>
          <a:solidFill>
            <a:srgbClr val="161C4D"/>
          </a:solidFill>
          <a:ln/>
        </p:spPr>
      </p:sp>
      <p:sp>
        <p:nvSpPr>
          <p:cNvPr id="20" name="Shape 15"/>
          <p:cNvSpPr/>
          <p:nvPr/>
        </p:nvSpPr>
        <p:spPr>
          <a:xfrm>
            <a:off x="713232" y="3561588"/>
            <a:ext cx="402336" cy="402336"/>
          </a:xfrm>
          <a:prstGeom prst="ellipse">
            <a:avLst/>
          </a:prstGeom>
          <a:solidFill>
            <a:srgbClr val="2A3470"/>
          </a:solidFill>
          <a:ln/>
        </p:spPr>
      </p:sp>
      <p:pic>
        <p:nvPicPr>
          <p:cNvPr id="21" name="Image 3" descr="/home/claude/icons/percent_white.png"/>
          <p:cNvPicPr>
            <a:picLocks noChangeAspect="1"/>
          </p:cNvPicPr>
          <p:nvPr/>
        </p:nvPicPr>
        <p:blipFill>
          <a:blip r:embed="rId6"/>
          <a:stretch>
            <a:fillRect/>
          </a:stretch>
        </p:blipFill>
        <p:spPr>
          <a:xfrm>
            <a:off x="817839" y="3666195"/>
            <a:ext cx="193121" cy="193121"/>
          </a:xfrm>
          <a:prstGeom prst="rect">
            <a:avLst/>
          </a:prstGeom>
        </p:spPr>
      </p:pic>
      <p:sp>
        <p:nvSpPr>
          <p:cNvPr id="22" name="Text 16"/>
          <p:cNvSpPr/>
          <p:nvPr/>
        </p:nvSpPr>
        <p:spPr>
          <a:xfrm>
            <a:off x="1280160" y="3479292"/>
            <a:ext cx="329184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Percentage Calculation</a:t>
            </a:r>
            <a:endParaRPr lang="en-US" sz="1300" dirty="0"/>
          </a:p>
        </p:txBody>
      </p:sp>
      <p:sp>
        <p:nvSpPr>
          <p:cNvPr id="23" name="Text 17"/>
          <p:cNvSpPr/>
          <p:nvPr/>
        </p:nvSpPr>
        <p:spPr>
          <a:xfrm>
            <a:off x="4709160" y="3479292"/>
            <a:ext cx="6766560" cy="566928"/>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Total ÷ maximum possible score (300) × 100</a:t>
            </a:r>
            <a:endParaRPr lang="en-US" sz="1150" dirty="0"/>
          </a:p>
        </p:txBody>
      </p:sp>
      <p:sp>
        <p:nvSpPr>
          <p:cNvPr id="24" name="Shape 18"/>
          <p:cNvSpPr/>
          <p:nvPr/>
        </p:nvSpPr>
        <p:spPr>
          <a:xfrm>
            <a:off x="502920" y="4114800"/>
            <a:ext cx="11155680" cy="566928"/>
          </a:xfrm>
          <a:prstGeom prst="roundRect">
            <a:avLst>
              <a:gd name="adj" fmla="val 8065"/>
            </a:avLst>
          </a:prstGeom>
          <a:solidFill>
            <a:srgbClr val="161C4D"/>
          </a:solidFill>
          <a:ln/>
        </p:spPr>
      </p:sp>
      <p:sp>
        <p:nvSpPr>
          <p:cNvPr id="25" name="Shape 19"/>
          <p:cNvSpPr/>
          <p:nvPr/>
        </p:nvSpPr>
        <p:spPr>
          <a:xfrm>
            <a:off x="713232" y="4197096"/>
            <a:ext cx="402336" cy="402336"/>
          </a:xfrm>
          <a:prstGeom prst="ellipse">
            <a:avLst/>
          </a:prstGeom>
          <a:solidFill>
            <a:srgbClr val="2A3470"/>
          </a:solidFill>
          <a:ln/>
        </p:spPr>
      </p:sp>
      <p:pic>
        <p:nvPicPr>
          <p:cNvPr id="26" name="Image 4" descr="/home/claude/icons/award_white.png"/>
          <p:cNvPicPr>
            <a:picLocks noChangeAspect="1"/>
          </p:cNvPicPr>
          <p:nvPr/>
        </p:nvPicPr>
        <p:blipFill>
          <a:blip r:embed="rId7"/>
          <a:stretch>
            <a:fillRect/>
          </a:stretch>
        </p:blipFill>
        <p:spPr>
          <a:xfrm>
            <a:off x="817839" y="4301703"/>
            <a:ext cx="193121" cy="193121"/>
          </a:xfrm>
          <a:prstGeom prst="rect">
            <a:avLst/>
          </a:prstGeom>
        </p:spPr>
      </p:pic>
      <p:sp>
        <p:nvSpPr>
          <p:cNvPr id="27" name="Text 20"/>
          <p:cNvSpPr/>
          <p:nvPr/>
        </p:nvSpPr>
        <p:spPr>
          <a:xfrm>
            <a:off x="1280160" y="4114800"/>
            <a:ext cx="329184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Grade Determination</a:t>
            </a:r>
            <a:endParaRPr lang="en-US" sz="1300" dirty="0"/>
          </a:p>
        </p:txBody>
      </p:sp>
      <p:sp>
        <p:nvSpPr>
          <p:cNvPr id="28" name="Text 21"/>
          <p:cNvSpPr/>
          <p:nvPr/>
        </p:nvSpPr>
        <p:spPr>
          <a:xfrm>
            <a:off x="4709160" y="4114800"/>
            <a:ext cx="6766560" cy="566928"/>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Grading policy maps percentage ranges to letter grades</a:t>
            </a:r>
            <a:endParaRPr lang="en-US" sz="1150" dirty="0"/>
          </a:p>
        </p:txBody>
      </p:sp>
      <p:sp>
        <p:nvSpPr>
          <p:cNvPr id="29" name="Shape 22"/>
          <p:cNvSpPr/>
          <p:nvPr/>
        </p:nvSpPr>
        <p:spPr>
          <a:xfrm>
            <a:off x="502920" y="4750308"/>
            <a:ext cx="11155680" cy="566928"/>
          </a:xfrm>
          <a:prstGeom prst="roundRect">
            <a:avLst>
              <a:gd name="adj" fmla="val 8065"/>
            </a:avLst>
          </a:prstGeom>
          <a:solidFill>
            <a:srgbClr val="161C4D"/>
          </a:solidFill>
          <a:ln/>
        </p:spPr>
      </p:sp>
      <p:sp>
        <p:nvSpPr>
          <p:cNvPr id="30" name="Shape 23"/>
          <p:cNvSpPr/>
          <p:nvPr/>
        </p:nvSpPr>
        <p:spPr>
          <a:xfrm>
            <a:off x="713232" y="4832604"/>
            <a:ext cx="402336" cy="402336"/>
          </a:xfrm>
          <a:prstGeom prst="ellipse">
            <a:avLst/>
          </a:prstGeom>
          <a:solidFill>
            <a:srgbClr val="2A3470"/>
          </a:solidFill>
          <a:ln/>
        </p:spPr>
      </p:sp>
      <p:pic>
        <p:nvPicPr>
          <p:cNvPr id="31" name="Image 5" descr="/home/claude/icons/sort_white.png"/>
          <p:cNvPicPr>
            <a:picLocks noChangeAspect="1"/>
          </p:cNvPicPr>
          <p:nvPr/>
        </p:nvPicPr>
        <p:blipFill>
          <a:blip r:embed="rId8"/>
          <a:stretch>
            <a:fillRect/>
          </a:stretch>
        </p:blipFill>
        <p:spPr>
          <a:xfrm>
            <a:off x="817839" y="4937211"/>
            <a:ext cx="193121" cy="193121"/>
          </a:xfrm>
          <a:prstGeom prst="rect">
            <a:avLst/>
          </a:prstGeom>
        </p:spPr>
      </p:pic>
      <p:sp>
        <p:nvSpPr>
          <p:cNvPr id="32" name="Text 24"/>
          <p:cNvSpPr/>
          <p:nvPr/>
        </p:nvSpPr>
        <p:spPr>
          <a:xfrm>
            <a:off x="1280160" y="4750308"/>
            <a:ext cx="329184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Student Ranking</a:t>
            </a:r>
            <a:endParaRPr lang="en-US" sz="1300" dirty="0"/>
          </a:p>
        </p:txBody>
      </p:sp>
      <p:sp>
        <p:nvSpPr>
          <p:cNvPr id="33" name="Text 25"/>
          <p:cNvSpPr/>
          <p:nvPr/>
        </p:nvSpPr>
        <p:spPr>
          <a:xfrm>
            <a:off x="4709160" y="4750308"/>
            <a:ext cx="6766560" cy="566928"/>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Records sorted by total marks, descending</a:t>
            </a:r>
            <a:endParaRPr lang="en-US" sz="1150" dirty="0"/>
          </a:p>
        </p:txBody>
      </p:sp>
      <p:sp>
        <p:nvSpPr>
          <p:cNvPr id="34" name="Shape 26"/>
          <p:cNvSpPr/>
          <p:nvPr/>
        </p:nvSpPr>
        <p:spPr>
          <a:xfrm>
            <a:off x="502920" y="5385816"/>
            <a:ext cx="11155680" cy="566928"/>
          </a:xfrm>
          <a:prstGeom prst="roundRect">
            <a:avLst>
              <a:gd name="adj" fmla="val 8065"/>
            </a:avLst>
          </a:prstGeom>
          <a:solidFill>
            <a:srgbClr val="161C4D"/>
          </a:solidFill>
          <a:ln/>
        </p:spPr>
      </p:sp>
      <p:sp>
        <p:nvSpPr>
          <p:cNvPr id="35" name="Shape 27"/>
          <p:cNvSpPr/>
          <p:nvPr/>
        </p:nvSpPr>
        <p:spPr>
          <a:xfrm>
            <a:off x="713232" y="5468112"/>
            <a:ext cx="402336" cy="402336"/>
          </a:xfrm>
          <a:prstGeom prst="ellipse">
            <a:avLst/>
          </a:prstGeom>
          <a:solidFill>
            <a:srgbClr val="2A3470"/>
          </a:solidFill>
          <a:ln/>
        </p:spPr>
      </p:sp>
      <p:pic>
        <p:nvPicPr>
          <p:cNvPr id="36" name="Image 6" descr="/home/claude/icons/json_white.png"/>
          <p:cNvPicPr>
            <a:picLocks noChangeAspect="1"/>
          </p:cNvPicPr>
          <p:nvPr/>
        </p:nvPicPr>
        <p:blipFill>
          <a:blip r:embed="rId9"/>
          <a:stretch>
            <a:fillRect/>
          </a:stretch>
        </p:blipFill>
        <p:spPr>
          <a:xfrm>
            <a:off x="817839" y="5572719"/>
            <a:ext cx="193121" cy="193121"/>
          </a:xfrm>
          <a:prstGeom prst="rect">
            <a:avLst/>
          </a:prstGeom>
        </p:spPr>
      </p:pic>
      <p:sp>
        <p:nvSpPr>
          <p:cNvPr id="37" name="Text 28"/>
          <p:cNvSpPr/>
          <p:nvPr/>
        </p:nvSpPr>
        <p:spPr>
          <a:xfrm>
            <a:off x="1280160" y="5385816"/>
            <a:ext cx="3291840" cy="56692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Final Ranked Output (JSON)</a:t>
            </a:r>
            <a:endParaRPr lang="en-US" sz="1300" dirty="0"/>
          </a:p>
        </p:txBody>
      </p:sp>
      <p:sp>
        <p:nvSpPr>
          <p:cNvPr id="38" name="Text 29"/>
          <p:cNvSpPr/>
          <p:nvPr/>
        </p:nvSpPr>
        <p:spPr>
          <a:xfrm>
            <a:off x="4709160" y="5385816"/>
            <a:ext cx="6766560" cy="566928"/>
          </a:xfrm>
          <a:prstGeom prst="rect">
            <a:avLst/>
          </a:prstGeom>
          <a:noFill/>
          <a:ln/>
        </p:spPr>
        <p:txBody>
          <a:bodyPr wrap="square" rtlCol="0" anchor="ctr"/>
          <a:lstStyle/>
          <a:p>
            <a:pPr marL="0" indent="0">
              <a:buNone/>
            </a:pPr>
            <a:r>
              <a:rPr lang="en-US" sz="1150" dirty="0">
                <a:solidFill>
                  <a:srgbClr val="CADCFC"/>
                </a:solidFill>
                <a:latin typeface="Calibri" pitchFamily="34" charset="0"/>
                <a:ea typeface="Calibri" pitchFamily="34" charset="-122"/>
                <a:cs typeface="Calibri" pitchFamily="34" charset="-120"/>
              </a:rPr>
              <a:t>JSON-compliant output ready for downstream integration</a:t>
            </a:r>
            <a:endParaRPr lang="en-US" sz="1150" dirty="0"/>
          </a:p>
        </p:txBody>
      </p:sp>
      <p:sp>
        <p:nvSpPr>
          <p:cNvPr id="39" name="Text 30"/>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Student Result Processing System  •  Shivam Singh</a:t>
            </a:r>
            <a:endParaRPr lang="en-US" sz="1000" dirty="0"/>
          </a:p>
        </p:txBody>
      </p:sp>
      <p:sp>
        <p:nvSpPr>
          <p:cNvPr id="40" name="Text 3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C"/>
        </a:solidFill>
        <a:effectLst/>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484632" y="731520"/>
            <a:ext cx="10972800" cy="640080"/>
          </a:xfrm>
          <a:prstGeom prst="rect">
            <a:avLst/>
          </a:prstGeom>
          <a:noFill/>
          <a:ln/>
        </p:spPr>
        <p:txBody>
          <a:bodyPr wrap="square" rtlCol="0" anchor="ctr"/>
          <a:lstStyle/>
          <a:p>
            <a:pPr marL="0" indent="0">
              <a:buNone/>
            </a:pPr>
            <a:r>
              <a:rPr lang="en-US" sz="3200" b="1" dirty="0">
                <a:solidFill>
                  <a:srgbClr val="1A1A2E"/>
                </a:solidFill>
                <a:latin typeface="Cambria" pitchFamily="34" charset="0"/>
                <a:ea typeface="Cambria" pitchFamily="34" charset="-122"/>
                <a:cs typeface="Cambria" pitchFamily="34" charset="-120"/>
              </a:rPr>
              <a:t>The 8-Week Learning Journey</a:t>
            </a:r>
            <a:endParaRPr lang="en-US" sz="3200" dirty="0"/>
          </a:p>
        </p:txBody>
      </p:sp>
      <p:sp>
        <p:nvSpPr>
          <p:cNvPr id="4" name="Shape 2"/>
          <p:cNvSpPr/>
          <p:nvPr/>
        </p:nvSpPr>
        <p:spPr>
          <a:xfrm>
            <a:off x="502920" y="1691640"/>
            <a:ext cx="2606040" cy="2148840"/>
          </a:xfrm>
          <a:prstGeom prst="roundRect">
            <a:avLst>
              <a:gd name="adj" fmla="val 2979"/>
            </a:avLst>
          </a:prstGeom>
          <a:solidFill>
            <a:srgbClr val="FFFFFF"/>
          </a:solidFill>
          <a:ln/>
          <a:effectLst>
            <a:outerShdw blurRad="63500" dist="25400" dir="5400000" algn="bl" rotWithShape="0">
              <a:srgbClr val="444444">
                <a:alpha val="14000"/>
              </a:srgbClr>
            </a:outerShdw>
          </a:effectLst>
        </p:spPr>
      </p:sp>
      <p:sp>
        <p:nvSpPr>
          <p:cNvPr id="5" name="Shape 3"/>
          <p:cNvSpPr/>
          <p:nvPr/>
        </p:nvSpPr>
        <p:spPr>
          <a:xfrm>
            <a:off x="704088" y="1892808"/>
            <a:ext cx="502920" cy="502920"/>
          </a:xfrm>
          <a:prstGeom prst="ellipse">
            <a:avLst/>
          </a:prstGeom>
          <a:solidFill>
            <a:srgbClr val="1E2761"/>
          </a:solidFill>
          <a:ln/>
        </p:spPr>
      </p:sp>
      <p:sp>
        <p:nvSpPr>
          <p:cNvPr id="6" name="Text 4"/>
          <p:cNvSpPr/>
          <p:nvPr/>
        </p:nvSpPr>
        <p:spPr>
          <a:xfrm>
            <a:off x="704088" y="1892808"/>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280160" y="1947672"/>
            <a:ext cx="1554480" cy="274320"/>
          </a:xfrm>
          <a:prstGeom prst="rect">
            <a:avLst/>
          </a:prstGeom>
          <a:noFill/>
          <a:ln/>
        </p:spPr>
        <p:txBody>
          <a:bodyPr wrap="square" rtlCol="0" anchor="ctr"/>
          <a:lstStyle/>
          <a:p>
            <a:pPr marL="0" indent="0">
              <a:buNone/>
            </a:pPr>
            <a:r>
              <a:rPr lang="en-US" sz="1000" b="1" kern="0" spc="100" dirty="0">
                <a:solidFill>
                  <a:srgbClr val="E8A93B"/>
                </a:solidFill>
                <a:latin typeface="Calibri" pitchFamily="34" charset="0"/>
                <a:ea typeface="Calibri" pitchFamily="34" charset="-122"/>
                <a:cs typeface="Calibri" pitchFamily="34" charset="-120"/>
              </a:rPr>
              <a:t>WEEK</a:t>
            </a:r>
            <a:endParaRPr lang="en-US" sz="1000" dirty="0"/>
          </a:p>
        </p:txBody>
      </p:sp>
      <p:sp>
        <p:nvSpPr>
          <p:cNvPr id="8" name="Text 6"/>
          <p:cNvSpPr/>
          <p:nvPr/>
        </p:nvSpPr>
        <p:spPr>
          <a:xfrm>
            <a:off x="704088" y="2560320"/>
            <a:ext cx="2203704" cy="594360"/>
          </a:xfrm>
          <a:prstGeom prst="rect">
            <a:avLst/>
          </a:prstGeom>
          <a:noFill/>
          <a:ln/>
        </p:spPr>
        <p:txBody>
          <a:bodyPr wrap="square"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Orientation &amp; Setup</a:t>
            </a:r>
            <a:endParaRPr lang="en-US" sz="1250" dirty="0"/>
          </a:p>
        </p:txBody>
      </p:sp>
      <p:sp>
        <p:nvSpPr>
          <p:cNvPr id="9" name="Text 7"/>
          <p:cNvSpPr/>
          <p:nvPr/>
        </p:nvSpPr>
        <p:spPr>
          <a:xfrm>
            <a:off x="704088" y="3136392"/>
            <a:ext cx="2203704" cy="640080"/>
          </a:xfrm>
          <a:prstGeom prst="rect">
            <a:avLst/>
          </a:prstGeom>
          <a:noFill/>
          <a:ln/>
        </p:spPr>
        <p:txBody>
          <a:bodyPr wrap="square" rtlCol="0" anchor="ctr"/>
          <a:lstStyle/>
          <a:p>
            <a:pPr marL="0" indent="0">
              <a:lnSpc>
                <a:spcPts val="1200"/>
              </a:lnSpc>
              <a:buNone/>
            </a:pPr>
            <a:r>
              <a:rPr lang="en-US" sz="950" dirty="0">
                <a:solidFill>
                  <a:srgbClr val="6B7280"/>
                </a:solidFill>
                <a:latin typeface="Calibri" pitchFamily="34" charset="0"/>
                <a:ea typeface="Calibri" pitchFamily="34" charset="-122"/>
                <a:cs typeface="Calibri" pitchFamily="34" charset="-120"/>
              </a:rPr>
              <a:t>LMS onboarding; Java/Python &amp; full-stack fundamentals refresher</a:t>
            </a:r>
            <a:endParaRPr lang="en-US" sz="950" dirty="0"/>
          </a:p>
        </p:txBody>
      </p:sp>
      <p:sp>
        <p:nvSpPr>
          <p:cNvPr id="10" name="Shape 8"/>
          <p:cNvSpPr/>
          <p:nvPr/>
        </p:nvSpPr>
        <p:spPr>
          <a:xfrm>
            <a:off x="3364992" y="1691640"/>
            <a:ext cx="2606040" cy="2148840"/>
          </a:xfrm>
          <a:prstGeom prst="roundRect">
            <a:avLst>
              <a:gd name="adj" fmla="val 2979"/>
            </a:avLst>
          </a:prstGeom>
          <a:solidFill>
            <a:srgbClr val="FFFFFF"/>
          </a:solidFill>
          <a:ln/>
          <a:effectLst>
            <a:outerShdw blurRad="63500" dist="25400" dir="5400000" algn="bl" rotWithShape="0">
              <a:srgbClr val="444444">
                <a:alpha val="14000"/>
              </a:srgbClr>
            </a:outerShdw>
          </a:effectLst>
        </p:spPr>
      </p:sp>
      <p:sp>
        <p:nvSpPr>
          <p:cNvPr id="11" name="Shape 9"/>
          <p:cNvSpPr/>
          <p:nvPr/>
        </p:nvSpPr>
        <p:spPr>
          <a:xfrm>
            <a:off x="3566160" y="1892808"/>
            <a:ext cx="502920" cy="502920"/>
          </a:xfrm>
          <a:prstGeom prst="ellipse">
            <a:avLst/>
          </a:prstGeom>
          <a:solidFill>
            <a:srgbClr val="1E2761"/>
          </a:solidFill>
          <a:ln/>
        </p:spPr>
      </p:sp>
      <p:sp>
        <p:nvSpPr>
          <p:cNvPr id="12" name="Text 10"/>
          <p:cNvSpPr/>
          <p:nvPr/>
        </p:nvSpPr>
        <p:spPr>
          <a:xfrm>
            <a:off x="3566160" y="1892808"/>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142232" y="1947672"/>
            <a:ext cx="1554480" cy="274320"/>
          </a:xfrm>
          <a:prstGeom prst="rect">
            <a:avLst/>
          </a:prstGeom>
          <a:noFill/>
          <a:ln/>
        </p:spPr>
        <p:txBody>
          <a:bodyPr wrap="square" rtlCol="0" anchor="ctr"/>
          <a:lstStyle/>
          <a:p>
            <a:pPr marL="0" indent="0">
              <a:buNone/>
            </a:pPr>
            <a:r>
              <a:rPr lang="en-US" sz="1000" b="1" kern="0" spc="100" dirty="0">
                <a:solidFill>
                  <a:srgbClr val="E8A93B"/>
                </a:solidFill>
                <a:latin typeface="Calibri" pitchFamily="34" charset="0"/>
                <a:ea typeface="Calibri" pitchFamily="34" charset="-122"/>
                <a:cs typeface="Calibri" pitchFamily="34" charset="-120"/>
              </a:rPr>
              <a:t>WEEK</a:t>
            </a:r>
            <a:endParaRPr lang="en-US" sz="1000" dirty="0"/>
          </a:p>
        </p:txBody>
      </p:sp>
      <p:sp>
        <p:nvSpPr>
          <p:cNvPr id="14" name="Text 12"/>
          <p:cNvSpPr/>
          <p:nvPr/>
        </p:nvSpPr>
        <p:spPr>
          <a:xfrm>
            <a:off x="3566160" y="2560320"/>
            <a:ext cx="2203704" cy="594360"/>
          </a:xfrm>
          <a:prstGeom prst="rect">
            <a:avLst/>
          </a:prstGeom>
          <a:noFill/>
          <a:ln/>
        </p:spPr>
        <p:txBody>
          <a:bodyPr wrap="square"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Data Parsing</a:t>
            </a:r>
            <a:endParaRPr lang="en-US" sz="1250" dirty="0"/>
          </a:p>
        </p:txBody>
      </p:sp>
      <p:sp>
        <p:nvSpPr>
          <p:cNvPr id="15" name="Text 13"/>
          <p:cNvSpPr/>
          <p:nvPr/>
        </p:nvSpPr>
        <p:spPr>
          <a:xfrm>
            <a:off x="3566160" y="3136392"/>
            <a:ext cx="2203704" cy="640080"/>
          </a:xfrm>
          <a:prstGeom prst="rect">
            <a:avLst/>
          </a:prstGeom>
          <a:noFill/>
          <a:ln/>
        </p:spPr>
        <p:txBody>
          <a:bodyPr wrap="square" rtlCol="0" anchor="ctr"/>
          <a:lstStyle/>
          <a:p>
            <a:pPr marL="0" indent="0">
              <a:lnSpc>
                <a:spcPts val="1200"/>
              </a:lnSpc>
              <a:buNone/>
            </a:pPr>
            <a:r>
              <a:rPr lang="en-US" sz="950" dirty="0">
                <a:solidFill>
                  <a:srgbClr val="6B7280"/>
                </a:solidFill>
                <a:latin typeface="Calibri" pitchFamily="34" charset="0"/>
                <a:ea typeface="Calibri" pitchFamily="34" charset="-122"/>
                <a:cs typeface="Calibri" pitchFamily="34" charset="-120"/>
              </a:rPr>
              <a:t>Reading raw CSV lines and normalizing student marks data</a:t>
            </a:r>
            <a:endParaRPr lang="en-US" sz="950" dirty="0"/>
          </a:p>
        </p:txBody>
      </p:sp>
      <p:sp>
        <p:nvSpPr>
          <p:cNvPr id="16" name="Shape 14"/>
          <p:cNvSpPr/>
          <p:nvPr/>
        </p:nvSpPr>
        <p:spPr>
          <a:xfrm>
            <a:off x="6227064" y="1691640"/>
            <a:ext cx="2606040" cy="2148840"/>
          </a:xfrm>
          <a:prstGeom prst="roundRect">
            <a:avLst>
              <a:gd name="adj" fmla="val 2979"/>
            </a:avLst>
          </a:prstGeom>
          <a:solidFill>
            <a:srgbClr val="FFFFFF"/>
          </a:solidFill>
          <a:ln/>
          <a:effectLst>
            <a:outerShdw blurRad="63500" dist="25400" dir="5400000" algn="bl" rotWithShape="0">
              <a:srgbClr val="444444">
                <a:alpha val="14000"/>
              </a:srgbClr>
            </a:outerShdw>
          </a:effectLst>
        </p:spPr>
      </p:sp>
      <p:sp>
        <p:nvSpPr>
          <p:cNvPr id="17" name="Shape 15"/>
          <p:cNvSpPr/>
          <p:nvPr/>
        </p:nvSpPr>
        <p:spPr>
          <a:xfrm>
            <a:off x="6428232" y="1892808"/>
            <a:ext cx="502920" cy="502920"/>
          </a:xfrm>
          <a:prstGeom prst="ellipse">
            <a:avLst/>
          </a:prstGeom>
          <a:solidFill>
            <a:srgbClr val="1E2761"/>
          </a:solidFill>
          <a:ln/>
        </p:spPr>
      </p:sp>
      <p:sp>
        <p:nvSpPr>
          <p:cNvPr id="18" name="Text 16"/>
          <p:cNvSpPr/>
          <p:nvPr/>
        </p:nvSpPr>
        <p:spPr>
          <a:xfrm>
            <a:off x="6428232" y="1892808"/>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7004304" y="1947672"/>
            <a:ext cx="1554480" cy="274320"/>
          </a:xfrm>
          <a:prstGeom prst="rect">
            <a:avLst/>
          </a:prstGeom>
          <a:noFill/>
          <a:ln/>
        </p:spPr>
        <p:txBody>
          <a:bodyPr wrap="square" rtlCol="0" anchor="ctr"/>
          <a:lstStyle/>
          <a:p>
            <a:pPr marL="0" indent="0">
              <a:buNone/>
            </a:pPr>
            <a:r>
              <a:rPr lang="en-US" sz="1000" b="1" kern="0" spc="100" dirty="0">
                <a:solidFill>
                  <a:srgbClr val="E8A93B"/>
                </a:solidFill>
                <a:latin typeface="Calibri" pitchFamily="34" charset="0"/>
                <a:ea typeface="Calibri" pitchFamily="34" charset="-122"/>
                <a:cs typeface="Calibri" pitchFamily="34" charset="-120"/>
              </a:rPr>
              <a:t>WEEK</a:t>
            </a:r>
            <a:endParaRPr lang="en-US" sz="1000" dirty="0"/>
          </a:p>
        </p:txBody>
      </p:sp>
      <p:sp>
        <p:nvSpPr>
          <p:cNvPr id="20" name="Text 18"/>
          <p:cNvSpPr/>
          <p:nvPr/>
        </p:nvSpPr>
        <p:spPr>
          <a:xfrm>
            <a:off x="6428232" y="2560320"/>
            <a:ext cx="2203704" cy="594360"/>
          </a:xfrm>
          <a:prstGeom prst="rect">
            <a:avLst/>
          </a:prstGeom>
          <a:noFill/>
          <a:ln/>
        </p:spPr>
        <p:txBody>
          <a:bodyPr wrap="square"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Total Marks Calculation</a:t>
            </a:r>
            <a:endParaRPr lang="en-US" sz="1250" dirty="0"/>
          </a:p>
        </p:txBody>
      </p:sp>
      <p:sp>
        <p:nvSpPr>
          <p:cNvPr id="21" name="Text 19"/>
          <p:cNvSpPr/>
          <p:nvPr/>
        </p:nvSpPr>
        <p:spPr>
          <a:xfrm>
            <a:off x="6428232" y="3136392"/>
            <a:ext cx="2203704" cy="640080"/>
          </a:xfrm>
          <a:prstGeom prst="rect">
            <a:avLst/>
          </a:prstGeom>
          <a:noFill/>
          <a:ln/>
        </p:spPr>
        <p:txBody>
          <a:bodyPr wrap="square" rtlCol="0" anchor="ctr"/>
          <a:lstStyle/>
          <a:p>
            <a:pPr marL="0" indent="0">
              <a:lnSpc>
                <a:spcPts val="1200"/>
              </a:lnSpc>
              <a:buNone/>
            </a:pPr>
            <a:r>
              <a:rPr lang="en-US" sz="950" dirty="0">
                <a:solidFill>
                  <a:srgbClr val="6B7280"/>
                </a:solidFill>
                <a:latin typeface="Calibri" pitchFamily="34" charset="0"/>
                <a:ea typeface="Calibri" pitchFamily="34" charset="-122"/>
                <a:cs typeface="Calibri" pitchFamily="34" charset="-120"/>
              </a:rPr>
              <a:t>Summing subject-wise marks into per-student totals</a:t>
            </a:r>
            <a:endParaRPr lang="en-US" sz="950" dirty="0"/>
          </a:p>
        </p:txBody>
      </p:sp>
      <p:sp>
        <p:nvSpPr>
          <p:cNvPr id="22" name="Shape 20"/>
          <p:cNvSpPr/>
          <p:nvPr/>
        </p:nvSpPr>
        <p:spPr>
          <a:xfrm>
            <a:off x="9089136" y="1691640"/>
            <a:ext cx="2606040" cy="2148840"/>
          </a:xfrm>
          <a:prstGeom prst="roundRect">
            <a:avLst>
              <a:gd name="adj" fmla="val 2979"/>
            </a:avLst>
          </a:prstGeom>
          <a:solidFill>
            <a:srgbClr val="FFFFFF"/>
          </a:solidFill>
          <a:ln/>
          <a:effectLst>
            <a:outerShdw blurRad="63500" dist="25400" dir="5400000" algn="bl" rotWithShape="0">
              <a:srgbClr val="444444">
                <a:alpha val="14000"/>
              </a:srgbClr>
            </a:outerShdw>
          </a:effectLst>
        </p:spPr>
      </p:sp>
      <p:sp>
        <p:nvSpPr>
          <p:cNvPr id="23" name="Shape 21"/>
          <p:cNvSpPr/>
          <p:nvPr/>
        </p:nvSpPr>
        <p:spPr>
          <a:xfrm>
            <a:off x="9290304" y="1892808"/>
            <a:ext cx="502920" cy="502920"/>
          </a:xfrm>
          <a:prstGeom prst="ellipse">
            <a:avLst/>
          </a:prstGeom>
          <a:solidFill>
            <a:srgbClr val="1E2761"/>
          </a:solidFill>
          <a:ln/>
        </p:spPr>
      </p:sp>
      <p:sp>
        <p:nvSpPr>
          <p:cNvPr id="24" name="Text 22"/>
          <p:cNvSpPr/>
          <p:nvPr/>
        </p:nvSpPr>
        <p:spPr>
          <a:xfrm>
            <a:off x="9290304" y="1892808"/>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9866376" y="1947672"/>
            <a:ext cx="1554480" cy="274320"/>
          </a:xfrm>
          <a:prstGeom prst="rect">
            <a:avLst/>
          </a:prstGeom>
          <a:noFill/>
          <a:ln/>
        </p:spPr>
        <p:txBody>
          <a:bodyPr wrap="square" rtlCol="0" anchor="ctr"/>
          <a:lstStyle/>
          <a:p>
            <a:pPr marL="0" indent="0">
              <a:buNone/>
            </a:pPr>
            <a:r>
              <a:rPr lang="en-US" sz="1000" b="1" kern="0" spc="100" dirty="0">
                <a:solidFill>
                  <a:srgbClr val="E8A93B"/>
                </a:solidFill>
                <a:latin typeface="Calibri" pitchFamily="34" charset="0"/>
                <a:ea typeface="Calibri" pitchFamily="34" charset="-122"/>
                <a:cs typeface="Calibri" pitchFamily="34" charset="-120"/>
              </a:rPr>
              <a:t>WEEK</a:t>
            </a:r>
            <a:endParaRPr lang="en-US" sz="1000" dirty="0"/>
          </a:p>
        </p:txBody>
      </p:sp>
      <p:sp>
        <p:nvSpPr>
          <p:cNvPr id="26" name="Text 24"/>
          <p:cNvSpPr/>
          <p:nvPr/>
        </p:nvSpPr>
        <p:spPr>
          <a:xfrm>
            <a:off x="9290304" y="2560320"/>
            <a:ext cx="2203704" cy="594360"/>
          </a:xfrm>
          <a:prstGeom prst="rect">
            <a:avLst/>
          </a:prstGeom>
          <a:noFill/>
          <a:ln/>
        </p:spPr>
        <p:txBody>
          <a:bodyPr wrap="square"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Percentage Calculation</a:t>
            </a:r>
            <a:endParaRPr lang="en-US" sz="1250" dirty="0"/>
          </a:p>
        </p:txBody>
      </p:sp>
      <p:sp>
        <p:nvSpPr>
          <p:cNvPr id="27" name="Text 25"/>
          <p:cNvSpPr/>
          <p:nvPr/>
        </p:nvSpPr>
        <p:spPr>
          <a:xfrm>
            <a:off x="9290304" y="3136392"/>
            <a:ext cx="2203704" cy="640080"/>
          </a:xfrm>
          <a:prstGeom prst="rect">
            <a:avLst/>
          </a:prstGeom>
          <a:noFill/>
          <a:ln/>
        </p:spPr>
        <p:txBody>
          <a:bodyPr wrap="square" rtlCol="0" anchor="ctr"/>
          <a:lstStyle/>
          <a:p>
            <a:pPr marL="0" indent="0">
              <a:lnSpc>
                <a:spcPts val="1200"/>
              </a:lnSpc>
              <a:buNone/>
            </a:pPr>
            <a:r>
              <a:rPr lang="en-US" sz="950" dirty="0">
                <a:solidFill>
                  <a:srgbClr val="6B7280"/>
                </a:solidFill>
                <a:latin typeface="Calibri" pitchFamily="34" charset="0"/>
                <a:ea typeface="Calibri" pitchFamily="34" charset="-122"/>
                <a:cs typeface="Calibri" pitchFamily="34" charset="-120"/>
              </a:rPr>
              <a:t>Computing overall percentage from total &amp; max score</a:t>
            </a:r>
            <a:endParaRPr lang="en-US" sz="950" dirty="0"/>
          </a:p>
        </p:txBody>
      </p:sp>
      <p:sp>
        <p:nvSpPr>
          <p:cNvPr id="28" name="Shape 26"/>
          <p:cNvSpPr/>
          <p:nvPr/>
        </p:nvSpPr>
        <p:spPr>
          <a:xfrm>
            <a:off x="502920" y="4133088"/>
            <a:ext cx="2606040" cy="2148840"/>
          </a:xfrm>
          <a:prstGeom prst="roundRect">
            <a:avLst>
              <a:gd name="adj" fmla="val 2979"/>
            </a:avLst>
          </a:prstGeom>
          <a:solidFill>
            <a:srgbClr val="FFFFFF"/>
          </a:solidFill>
          <a:ln/>
          <a:effectLst>
            <a:outerShdw blurRad="63500" dist="25400" dir="5400000" algn="bl" rotWithShape="0">
              <a:srgbClr val="444444">
                <a:alpha val="14000"/>
              </a:srgbClr>
            </a:outerShdw>
          </a:effectLst>
        </p:spPr>
      </p:sp>
      <p:sp>
        <p:nvSpPr>
          <p:cNvPr id="29" name="Shape 27"/>
          <p:cNvSpPr/>
          <p:nvPr/>
        </p:nvSpPr>
        <p:spPr>
          <a:xfrm>
            <a:off x="704088" y="4334256"/>
            <a:ext cx="502920" cy="502920"/>
          </a:xfrm>
          <a:prstGeom prst="ellipse">
            <a:avLst/>
          </a:prstGeom>
          <a:solidFill>
            <a:srgbClr val="1E2761"/>
          </a:solidFill>
          <a:ln/>
        </p:spPr>
      </p:sp>
      <p:sp>
        <p:nvSpPr>
          <p:cNvPr id="30" name="Text 28"/>
          <p:cNvSpPr/>
          <p:nvPr/>
        </p:nvSpPr>
        <p:spPr>
          <a:xfrm>
            <a:off x="704088" y="4334256"/>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p:nvPr/>
        </p:nvSpPr>
        <p:spPr>
          <a:xfrm>
            <a:off x="1280160" y="4389120"/>
            <a:ext cx="1554480" cy="274320"/>
          </a:xfrm>
          <a:prstGeom prst="rect">
            <a:avLst/>
          </a:prstGeom>
          <a:noFill/>
          <a:ln/>
        </p:spPr>
        <p:txBody>
          <a:bodyPr wrap="square" rtlCol="0" anchor="ctr"/>
          <a:lstStyle/>
          <a:p>
            <a:pPr marL="0" indent="0">
              <a:buNone/>
            </a:pPr>
            <a:r>
              <a:rPr lang="en-US" sz="1000" b="1" kern="0" spc="100" dirty="0">
                <a:solidFill>
                  <a:srgbClr val="E8A93B"/>
                </a:solidFill>
                <a:latin typeface="Calibri" pitchFamily="34" charset="0"/>
                <a:ea typeface="Calibri" pitchFamily="34" charset="-122"/>
                <a:cs typeface="Calibri" pitchFamily="34" charset="-120"/>
              </a:rPr>
              <a:t>WEEK</a:t>
            </a:r>
            <a:endParaRPr lang="en-US" sz="1000" dirty="0"/>
          </a:p>
        </p:txBody>
      </p:sp>
      <p:sp>
        <p:nvSpPr>
          <p:cNvPr id="32" name="Text 30"/>
          <p:cNvSpPr/>
          <p:nvPr/>
        </p:nvSpPr>
        <p:spPr>
          <a:xfrm>
            <a:off x="704088" y="5001768"/>
            <a:ext cx="2203704" cy="594360"/>
          </a:xfrm>
          <a:prstGeom prst="rect">
            <a:avLst/>
          </a:prstGeom>
          <a:noFill/>
          <a:ln/>
        </p:spPr>
        <p:txBody>
          <a:bodyPr wrap="square"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Grade Determination</a:t>
            </a:r>
            <a:endParaRPr lang="en-US" sz="1250" dirty="0"/>
          </a:p>
        </p:txBody>
      </p:sp>
      <p:sp>
        <p:nvSpPr>
          <p:cNvPr id="33" name="Text 31"/>
          <p:cNvSpPr/>
          <p:nvPr/>
        </p:nvSpPr>
        <p:spPr>
          <a:xfrm>
            <a:off x="704088" y="5577840"/>
            <a:ext cx="2203704" cy="640080"/>
          </a:xfrm>
          <a:prstGeom prst="rect">
            <a:avLst/>
          </a:prstGeom>
          <a:noFill/>
          <a:ln/>
        </p:spPr>
        <p:txBody>
          <a:bodyPr wrap="square" rtlCol="0" anchor="ctr"/>
          <a:lstStyle/>
          <a:p>
            <a:pPr marL="0" indent="0">
              <a:lnSpc>
                <a:spcPts val="1200"/>
              </a:lnSpc>
              <a:buNone/>
            </a:pPr>
            <a:r>
              <a:rPr lang="en-US" sz="950" dirty="0">
                <a:solidFill>
                  <a:srgbClr val="6B7280"/>
                </a:solidFill>
                <a:latin typeface="Calibri" pitchFamily="34" charset="0"/>
                <a:ea typeface="Calibri" pitchFamily="34" charset="-122"/>
                <a:cs typeface="Calibri" pitchFamily="34" charset="-120"/>
              </a:rPr>
              <a:t>Designing the grading policy to map percentages to letter grades</a:t>
            </a:r>
            <a:endParaRPr lang="en-US" sz="950" dirty="0"/>
          </a:p>
        </p:txBody>
      </p:sp>
      <p:sp>
        <p:nvSpPr>
          <p:cNvPr id="34" name="Shape 32"/>
          <p:cNvSpPr/>
          <p:nvPr/>
        </p:nvSpPr>
        <p:spPr>
          <a:xfrm>
            <a:off x="3364992" y="4133088"/>
            <a:ext cx="2606040" cy="2148840"/>
          </a:xfrm>
          <a:prstGeom prst="roundRect">
            <a:avLst>
              <a:gd name="adj" fmla="val 2979"/>
            </a:avLst>
          </a:prstGeom>
          <a:solidFill>
            <a:srgbClr val="FFFFFF"/>
          </a:solidFill>
          <a:ln/>
          <a:effectLst>
            <a:outerShdw blurRad="63500" dist="25400" dir="5400000" algn="bl" rotWithShape="0">
              <a:srgbClr val="444444">
                <a:alpha val="14000"/>
              </a:srgbClr>
            </a:outerShdw>
          </a:effectLst>
        </p:spPr>
      </p:sp>
      <p:sp>
        <p:nvSpPr>
          <p:cNvPr id="35" name="Shape 33"/>
          <p:cNvSpPr/>
          <p:nvPr/>
        </p:nvSpPr>
        <p:spPr>
          <a:xfrm>
            <a:off x="3566160" y="4334256"/>
            <a:ext cx="502920" cy="502920"/>
          </a:xfrm>
          <a:prstGeom prst="ellipse">
            <a:avLst/>
          </a:prstGeom>
          <a:solidFill>
            <a:srgbClr val="1E2761"/>
          </a:solidFill>
          <a:ln/>
        </p:spPr>
      </p:sp>
      <p:sp>
        <p:nvSpPr>
          <p:cNvPr id="36" name="Text 34"/>
          <p:cNvSpPr/>
          <p:nvPr/>
        </p:nvSpPr>
        <p:spPr>
          <a:xfrm>
            <a:off x="3566160" y="4334256"/>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7" name="Text 35"/>
          <p:cNvSpPr/>
          <p:nvPr/>
        </p:nvSpPr>
        <p:spPr>
          <a:xfrm>
            <a:off x="4142232" y="4389120"/>
            <a:ext cx="1554480" cy="274320"/>
          </a:xfrm>
          <a:prstGeom prst="rect">
            <a:avLst/>
          </a:prstGeom>
          <a:noFill/>
          <a:ln/>
        </p:spPr>
        <p:txBody>
          <a:bodyPr wrap="square" rtlCol="0" anchor="ctr"/>
          <a:lstStyle/>
          <a:p>
            <a:pPr marL="0" indent="0">
              <a:buNone/>
            </a:pPr>
            <a:r>
              <a:rPr lang="en-US" sz="1000" b="1" kern="0" spc="100" dirty="0">
                <a:solidFill>
                  <a:srgbClr val="E8A93B"/>
                </a:solidFill>
                <a:latin typeface="Calibri" pitchFamily="34" charset="0"/>
                <a:ea typeface="Calibri" pitchFamily="34" charset="-122"/>
                <a:cs typeface="Calibri" pitchFamily="34" charset="-120"/>
              </a:rPr>
              <a:t>WEEK</a:t>
            </a:r>
            <a:endParaRPr lang="en-US" sz="1000" dirty="0"/>
          </a:p>
        </p:txBody>
      </p:sp>
      <p:sp>
        <p:nvSpPr>
          <p:cNvPr id="38" name="Text 36"/>
          <p:cNvSpPr/>
          <p:nvPr/>
        </p:nvSpPr>
        <p:spPr>
          <a:xfrm>
            <a:off x="3566160" y="5001768"/>
            <a:ext cx="2203704" cy="594360"/>
          </a:xfrm>
          <a:prstGeom prst="rect">
            <a:avLst/>
          </a:prstGeom>
          <a:noFill/>
          <a:ln/>
        </p:spPr>
        <p:txBody>
          <a:bodyPr wrap="square"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Student Ranking</a:t>
            </a:r>
            <a:endParaRPr lang="en-US" sz="1250" dirty="0"/>
          </a:p>
        </p:txBody>
      </p:sp>
      <p:sp>
        <p:nvSpPr>
          <p:cNvPr id="39" name="Text 37"/>
          <p:cNvSpPr/>
          <p:nvPr/>
        </p:nvSpPr>
        <p:spPr>
          <a:xfrm>
            <a:off x="3566160" y="5577840"/>
            <a:ext cx="2203704" cy="640080"/>
          </a:xfrm>
          <a:prstGeom prst="rect">
            <a:avLst/>
          </a:prstGeom>
          <a:noFill/>
          <a:ln/>
        </p:spPr>
        <p:txBody>
          <a:bodyPr wrap="square" rtlCol="0" anchor="ctr"/>
          <a:lstStyle/>
          <a:p>
            <a:pPr marL="0" indent="0">
              <a:lnSpc>
                <a:spcPts val="1200"/>
              </a:lnSpc>
              <a:buNone/>
            </a:pPr>
            <a:r>
              <a:rPr lang="en-US" sz="950" dirty="0">
                <a:solidFill>
                  <a:srgbClr val="6B7280"/>
                </a:solidFill>
                <a:latin typeface="Calibri" pitchFamily="34" charset="0"/>
                <a:ea typeface="Calibri" pitchFamily="34" charset="-122"/>
                <a:cs typeface="Calibri" pitchFamily="34" charset="-120"/>
              </a:rPr>
              <a:t>Sorting all records by total marks in descending order</a:t>
            </a:r>
            <a:endParaRPr lang="en-US" sz="950" dirty="0"/>
          </a:p>
        </p:txBody>
      </p:sp>
      <p:sp>
        <p:nvSpPr>
          <p:cNvPr id="40" name="Shape 38"/>
          <p:cNvSpPr/>
          <p:nvPr/>
        </p:nvSpPr>
        <p:spPr>
          <a:xfrm>
            <a:off x="6227064" y="4133088"/>
            <a:ext cx="2606040" cy="2148840"/>
          </a:xfrm>
          <a:prstGeom prst="roundRect">
            <a:avLst>
              <a:gd name="adj" fmla="val 2979"/>
            </a:avLst>
          </a:prstGeom>
          <a:solidFill>
            <a:srgbClr val="FFFFFF"/>
          </a:solidFill>
          <a:ln/>
          <a:effectLst>
            <a:outerShdw blurRad="63500" dist="25400" dir="5400000" algn="bl" rotWithShape="0">
              <a:srgbClr val="444444">
                <a:alpha val="14000"/>
              </a:srgbClr>
            </a:outerShdw>
          </a:effectLst>
        </p:spPr>
      </p:sp>
      <p:sp>
        <p:nvSpPr>
          <p:cNvPr id="41" name="Shape 39"/>
          <p:cNvSpPr/>
          <p:nvPr/>
        </p:nvSpPr>
        <p:spPr>
          <a:xfrm>
            <a:off x="6428232" y="4334256"/>
            <a:ext cx="502920" cy="502920"/>
          </a:xfrm>
          <a:prstGeom prst="ellipse">
            <a:avLst/>
          </a:prstGeom>
          <a:solidFill>
            <a:srgbClr val="1E2761"/>
          </a:solidFill>
          <a:ln/>
        </p:spPr>
      </p:sp>
      <p:sp>
        <p:nvSpPr>
          <p:cNvPr id="42" name="Text 40"/>
          <p:cNvSpPr/>
          <p:nvPr/>
        </p:nvSpPr>
        <p:spPr>
          <a:xfrm>
            <a:off x="6428232" y="4334256"/>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3" name="Text 41"/>
          <p:cNvSpPr/>
          <p:nvPr/>
        </p:nvSpPr>
        <p:spPr>
          <a:xfrm>
            <a:off x="7004304" y="4389120"/>
            <a:ext cx="1554480" cy="274320"/>
          </a:xfrm>
          <a:prstGeom prst="rect">
            <a:avLst/>
          </a:prstGeom>
          <a:noFill/>
          <a:ln/>
        </p:spPr>
        <p:txBody>
          <a:bodyPr wrap="square" rtlCol="0" anchor="ctr"/>
          <a:lstStyle/>
          <a:p>
            <a:pPr marL="0" indent="0">
              <a:buNone/>
            </a:pPr>
            <a:r>
              <a:rPr lang="en-US" sz="1000" b="1" kern="0" spc="100" dirty="0">
                <a:solidFill>
                  <a:srgbClr val="E8A93B"/>
                </a:solidFill>
                <a:latin typeface="Calibri" pitchFamily="34" charset="0"/>
                <a:ea typeface="Calibri" pitchFamily="34" charset="-122"/>
                <a:cs typeface="Calibri" pitchFamily="34" charset="-120"/>
              </a:rPr>
              <a:t>WEEK</a:t>
            </a:r>
            <a:endParaRPr lang="en-US" sz="1000" dirty="0"/>
          </a:p>
        </p:txBody>
      </p:sp>
      <p:sp>
        <p:nvSpPr>
          <p:cNvPr id="44" name="Text 42"/>
          <p:cNvSpPr/>
          <p:nvPr/>
        </p:nvSpPr>
        <p:spPr>
          <a:xfrm>
            <a:off x="6428232" y="5001768"/>
            <a:ext cx="2203704" cy="594360"/>
          </a:xfrm>
          <a:prstGeom prst="rect">
            <a:avLst/>
          </a:prstGeom>
          <a:noFill/>
          <a:ln/>
        </p:spPr>
        <p:txBody>
          <a:bodyPr wrap="square"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JSON Output &amp; Integration</a:t>
            </a:r>
            <a:endParaRPr lang="en-US" sz="1250" dirty="0"/>
          </a:p>
        </p:txBody>
      </p:sp>
      <p:sp>
        <p:nvSpPr>
          <p:cNvPr id="45" name="Text 43"/>
          <p:cNvSpPr/>
          <p:nvPr/>
        </p:nvSpPr>
        <p:spPr>
          <a:xfrm>
            <a:off x="6428232" y="5577840"/>
            <a:ext cx="2203704" cy="640080"/>
          </a:xfrm>
          <a:prstGeom prst="rect">
            <a:avLst/>
          </a:prstGeom>
          <a:noFill/>
          <a:ln/>
        </p:spPr>
        <p:txBody>
          <a:bodyPr wrap="square" rtlCol="0" anchor="ctr"/>
          <a:lstStyle/>
          <a:p>
            <a:pPr marL="0" indent="0">
              <a:lnSpc>
                <a:spcPts val="1200"/>
              </a:lnSpc>
              <a:buNone/>
            </a:pPr>
            <a:r>
              <a:rPr lang="en-US" sz="950" dirty="0">
                <a:solidFill>
                  <a:srgbClr val="6B7280"/>
                </a:solidFill>
                <a:latin typeface="Calibri" pitchFamily="34" charset="0"/>
                <a:ea typeface="Calibri" pitchFamily="34" charset="-122"/>
                <a:cs typeface="Calibri" pitchFamily="34" charset="-120"/>
              </a:rPr>
              <a:t>Ensuring JSON-compliant output with error handling at each stage</a:t>
            </a:r>
            <a:endParaRPr lang="en-US" sz="950" dirty="0"/>
          </a:p>
        </p:txBody>
      </p:sp>
      <p:sp>
        <p:nvSpPr>
          <p:cNvPr id="46" name="Shape 44"/>
          <p:cNvSpPr/>
          <p:nvPr/>
        </p:nvSpPr>
        <p:spPr>
          <a:xfrm>
            <a:off x="9089136" y="4133088"/>
            <a:ext cx="2606040" cy="2148840"/>
          </a:xfrm>
          <a:prstGeom prst="roundRect">
            <a:avLst>
              <a:gd name="adj" fmla="val 2979"/>
            </a:avLst>
          </a:prstGeom>
          <a:solidFill>
            <a:srgbClr val="FFFFFF"/>
          </a:solidFill>
          <a:ln/>
          <a:effectLst>
            <a:outerShdw blurRad="63500" dist="25400" dir="5400000" algn="bl" rotWithShape="0">
              <a:srgbClr val="444444">
                <a:alpha val="14000"/>
              </a:srgbClr>
            </a:outerShdw>
          </a:effectLst>
        </p:spPr>
      </p:sp>
      <p:sp>
        <p:nvSpPr>
          <p:cNvPr id="47" name="Shape 45"/>
          <p:cNvSpPr/>
          <p:nvPr/>
        </p:nvSpPr>
        <p:spPr>
          <a:xfrm>
            <a:off x="9290304" y="4334256"/>
            <a:ext cx="502920" cy="502920"/>
          </a:xfrm>
          <a:prstGeom prst="ellipse">
            <a:avLst/>
          </a:prstGeom>
          <a:solidFill>
            <a:srgbClr val="1E2761"/>
          </a:solidFill>
          <a:ln/>
        </p:spPr>
      </p:sp>
      <p:sp>
        <p:nvSpPr>
          <p:cNvPr id="48" name="Text 46"/>
          <p:cNvSpPr/>
          <p:nvPr/>
        </p:nvSpPr>
        <p:spPr>
          <a:xfrm>
            <a:off x="9290304" y="4334256"/>
            <a:ext cx="50292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9" name="Text 47"/>
          <p:cNvSpPr/>
          <p:nvPr/>
        </p:nvSpPr>
        <p:spPr>
          <a:xfrm>
            <a:off x="9866376" y="4389120"/>
            <a:ext cx="1554480" cy="274320"/>
          </a:xfrm>
          <a:prstGeom prst="rect">
            <a:avLst/>
          </a:prstGeom>
          <a:noFill/>
          <a:ln/>
        </p:spPr>
        <p:txBody>
          <a:bodyPr wrap="square" rtlCol="0" anchor="ctr"/>
          <a:lstStyle/>
          <a:p>
            <a:pPr marL="0" indent="0">
              <a:buNone/>
            </a:pPr>
            <a:r>
              <a:rPr lang="en-US" sz="1000" b="1" kern="0" spc="100" dirty="0">
                <a:solidFill>
                  <a:srgbClr val="E8A93B"/>
                </a:solidFill>
                <a:latin typeface="Calibri" pitchFamily="34" charset="0"/>
                <a:ea typeface="Calibri" pitchFamily="34" charset="-122"/>
                <a:cs typeface="Calibri" pitchFamily="34" charset="-120"/>
              </a:rPr>
              <a:t>WEEK</a:t>
            </a:r>
            <a:endParaRPr lang="en-US" sz="1000" dirty="0"/>
          </a:p>
        </p:txBody>
      </p:sp>
      <p:sp>
        <p:nvSpPr>
          <p:cNvPr id="50" name="Text 48"/>
          <p:cNvSpPr/>
          <p:nvPr/>
        </p:nvSpPr>
        <p:spPr>
          <a:xfrm>
            <a:off x="9290304" y="5001768"/>
            <a:ext cx="2203704" cy="594360"/>
          </a:xfrm>
          <a:prstGeom prst="rect">
            <a:avLst/>
          </a:prstGeom>
          <a:noFill/>
          <a:ln/>
        </p:spPr>
        <p:txBody>
          <a:bodyPr wrap="square" rtlCol="0" anchor="ctr"/>
          <a:lstStyle/>
          <a:p>
            <a:pPr marL="0" indent="0">
              <a:buNone/>
            </a:pPr>
            <a:r>
              <a:rPr lang="en-US" sz="1250" b="1" dirty="0">
                <a:solidFill>
                  <a:srgbClr val="1A1A2E"/>
                </a:solidFill>
                <a:latin typeface="Calibri" pitchFamily="34" charset="0"/>
                <a:ea typeface="Calibri" pitchFamily="34" charset="-122"/>
                <a:cs typeface="Calibri" pitchFamily="34" charset="-120"/>
              </a:rPr>
              <a:t>Testing &amp; Final Submission</a:t>
            </a:r>
            <a:endParaRPr lang="en-US" sz="1250" dirty="0"/>
          </a:p>
        </p:txBody>
      </p:sp>
      <p:sp>
        <p:nvSpPr>
          <p:cNvPr id="51" name="Text 49"/>
          <p:cNvSpPr/>
          <p:nvPr/>
        </p:nvSpPr>
        <p:spPr>
          <a:xfrm>
            <a:off x="9290304" y="5577840"/>
            <a:ext cx="2203704" cy="640080"/>
          </a:xfrm>
          <a:prstGeom prst="rect">
            <a:avLst/>
          </a:prstGeom>
          <a:noFill/>
          <a:ln/>
        </p:spPr>
        <p:txBody>
          <a:bodyPr wrap="square" rtlCol="0" anchor="ctr"/>
          <a:lstStyle/>
          <a:p>
            <a:pPr marL="0" indent="0">
              <a:lnSpc>
                <a:spcPts val="1200"/>
              </a:lnSpc>
              <a:buNone/>
            </a:pPr>
            <a:r>
              <a:rPr lang="en-US" sz="950" dirty="0">
                <a:solidFill>
                  <a:srgbClr val="6B7280"/>
                </a:solidFill>
                <a:latin typeface="Calibri" pitchFamily="34" charset="0"/>
                <a:ea typeface="Calibri" pitchFamily="34" charset="-122"/>
                <a:cs typeface="Calibri" pitchFamily="34" charset="-120"/>
              </a:rPr>
              <a:t>End-to-end testing, documentation, and project submission</a:t>
            </a:r>
            <a:endParaRPr lang="en-US" sz="950" dirty="0"/>
          </a:p>
        </p:txBody>
      </p:sp>
      <p:sp>
        <p:nvSpPr>
          <p:cNvPr id="52" name="Text 50"/>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Student Result Processing System  •  Shivam Singh</a:t>
            </a:r>
            <a:endParaRPr lang="en-US" sz="1000" dirty="0"/>
          </a:p>
        </p:txBody>
      </p:sp>
      <p:sp>
        <p:nvSpPr>
          <p:cNvPr id="53" name="Text 51"/>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marL="0" indent="0">
              <a:buNone/>
            </a:pPr>
            <a:r>
              <a:rPr lang="en-US" sz="1200" b="1" kern="0" spc="200" dirty="0">
                <a:solidFill>
                  <a:srgbClr val="1E2761"/>
                </a:solidFill>
                <a:latin typeface="Calibri" pitchFamily="34" charset="0"/>
                <a:ea typeface="Calibri" pitchFamily="34" charset="-122"/>
                <a:cs typeface="Calibri" pitchFamily="34" charset="-120"/>
              </a:rPr>
              <a:t>EXPECTED OUTCOMES</a:t>
            </a:r>
            <a:endParaRPr lang="en-US" sz="1200" dirty="0"/>
          </a:p>
        </p:txBody>
      </p:sp>
      <p:sp>
        <p:nvSpPr>
          <p:cNvPr id="3" name="Text 1"/>
          <p:cNvSpPr/>
          <p:nvPr/>
        </p:nvSpPr>
        <p:spPr>
          <a:xfrm>
            <a:off x="484632" y="731520"/>
            <a:ext cx="10972800" cy="640080"/>
          </a:xfrm>
          <a:prstGeom prst="rect">
            <a:avLst/>
          </a:prstGeom>
          <a:noFill/>
          <a:ln/>
        </p:spPr>
        <p:txBody>
          <a:bodyPr wrap="square" rtlCol="0" anchor="ctr"/>
          <a:lstStyle/>
          <a:p>
            <a:pPr marL="0" indent="0">
              <a:buNone/>
            </a:pPr>
            <a:r>
              <a:rPr lang="en-US" sz="3200" b="1" dirty="0">
                <a:solidFill>
                  <a:srgbClr val="1A1A2E"/>
                </a:solidFill>
                <a:latin typeface="Cambria" pitchFamily="34" charset="0"/>
                <a:ea typeface="Cambria" pitchFamily="34" charset="-122"/>
                <a:cs typeface="Cambria" pitchFamily="34" charset="-120"/>
              </a:rPr>
              <a:t>Skills &amp; Capabilities Gained</a:t>
            </a:r>
            <a:endParaRPr lang="en-US" sz="3200" dirty="0"/>
          </a:p>
        </p:txBody>
      </p:sp>
      <p:sp>
        <p:nvSpPr>
          <p:cNvPr id="4" name="Shape 2"/>
          <p:cNvSpPr/>
          <p:nvPr/>
        </p:nvSpPr>
        <p:spPr>
          <a:xfrm>
            <a:off x="502920" y="1691640"/>
            <a:ext cx="411480" cy="411480"/>
          </a:xfrm>
          <a:prstGeom prst="ellipse">
            <a:avLst/>
          </a:prstGeom>
          <a:solidFill>
            <a:srgbClr val="CADCFC"/>
          </a:solidFill>
          <a:ln/>
        </p:spPr>
      </p:sp>
      <p:pic>
        <p:nvPicPr>
          <p:cNvPr id="5" name="Image 0" descr="/home/claude/icons/check.png"/>
          <p:cNvPicPr>
            <a:picLocks noChangeAspect="1"/>
          </p:cNvPicPr>
          <p:nvPr/>
        </p:nvPicPr>
        <p:blipFill>
          <a:blip r:embed="rId3"/>
          <a:stretch>
            <a:fillRect/>
          </a:stretch>
        </p:blipFill>
        <p:spPr>
          <a:xfrm>
            <a:off x="609905" y="1798625"/>
            <a:ext cx="197510" cy="197510"/>
          </a:xfrm>
          <a:prstGeom prst="rect">
            <a:avLst/>
          </a:prstGeom>
        </p:spPr>
      </p:pic>
      <p:sp>
        <p:nvSpPr>
          <p:cNvPr id="6" name="Text 3"/>
          <p:cNvSpPr/>
          <p:nvPr/>
        </p:nvSpPr>
        <p:spPr>
          <a:xfrm>
            <a:off x="1097280" y="1673352"/>
            <a:ext cx="10424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A working pipeline capable of converting raw CSV student data into accurate, structured results</a:t>
            </a:r>
            <a:endParaRPr lang="en-US" sz="1400" dirty="0"/>
          </a:p>
        </p:txBody>
      </p:sp>
      <p:sp>
        <p:nvSpPr>
          <p:cNvPr id="7" name="Shape 4"/>
          <p:cNvSpPr/>
          <p:nvPr/>
        </p:nvSpPr>
        <p:spPr>
          <a:xfrm>
            <a:off x="502920" y="2377440"/>
            <a:ext cx="411480" cy="411480"/>
          </a:xfrm>
          <a:prstGeom prst="ellipse">
            <a:avLst/>
          </a:prstGeom>
          <a:solidFill>
            <a:srgbClr val="CADCFC"/>
          </a:solidFill>
          <a:ln/>
        </p:spPr>
      </p:sp>
      <p:pic>
        <p:nvPicPr>
          <p:cNvPr id="8" name="Image 1" descr="/home/claude/icons/check.png"/>
          <p:cNvPicPr>
            <a:picLocks noChangeAspect="1"/>
          </p:cNvPicPr>
          <p:nvPr/>
        </p:nvPicPr>
        <p:blipFill>
          <a:blip r:embed="rId3"/>
          <a:stretch>
            <a:fillRect/>
          </a:stretch>
        </p:blipFill>
        <p:spPr>
          <a:xfrm>
            <a:off x="609905" y="2484425"/>
            <a:ext cx="197510" cy="197510"/>
          </a:xfrm>
          <a:prstGeom prst="rect">
            <a:avLst/>
          </a:prstGeom>
        </p:spPr>
      </p:pic>
      <p:sp>
        <p:nvSpPr>
          <p:cNvPr id="9" name="Text 5"/>
          <p:cNvSpPr/>
          <p:nvPr/>
        </p:nvSpPr>
        <p:spPr>
          <a:xfrm>
            <a:off x="1097280" y="2359152"/>
            <a:ext cx="10424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Correctly computed totals, percentages, and grades for each student record</a:t>
            </a:r>
            <a:endParaRPr lang="en-US" sz="1400" dirty="0"/>
          </a:p>
        </p:txBody>
      </p:sp>
      <p:sp>
        <p:nvSpPr>
          <p:cNvPr id="10" name="Shape 6"/>
          <p:cNvSpPr/>
          <p:nvPr/>
        </p:nvSpPr>
        <p:spPr>
          <a:xfrm>
            <a:off x="502920" y="3063240"/>
            <a:ext cx="411480" cy="411480"/>
          </a:xfrm>
          <a:prstGeom prst="ellipse">
            <a:avLst/>
          </a:prstGeom>
          <a:solidFill>
            <a:srgbClr val="CADCFC"/>
          </a:solidFill>
          <a:ln/>
        </p:spPr>
      </p:sp>
      <p:pic>
        <p:nvPicPr>
          <p:cNvPr id="11" name="Image 2" descr="/home/claude/icons/check.png"/>
          <p:cNvPicPr>
            <a:picLocks noChangeAspect="1"/>
          </p:cNvPicPr>
          <p:nvPr/>
        </p:nvPicPr>
        <p:blipFill>
          <a:blip r:embed="rId3"/>
          <a:stretch>
            <a:fillRect/>
          </a:stretch>
        </p:blipFill>
        <p:spPr>
          <a:xfrm>
            <a:off x="609905" y="3170225"/>
            <a:ext cx="197510" cy="197510"/>
          </a:xfrm>
          <a:prstGeom prst="rect">
            <a:avLst/>
          </a:prstGeom>
        </p:spPr>
      </p:pic>
      <p:sp>
        <p:nvSpPr>
          <p:cNvPr id="12" name="Text 7"/>
          <p:cNvSpPr/>
          <p:nvPr/>
        </p:nvSpPr>
        <p:spPr>
          <a:xfrm>
            <a:off x="1097280" y="3044952"/>
            <a:ext cx="10424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A final, ranked list of students ordered by total marks</a:t>
            </a:r>
            <a:endParaRPr lang="en-US" sz="1400" dirty="0"/>
          </a:p>
        </p:txBody>
      </p:sp>
      <p:sp>
        <p:nvSpPr>
          <p:cNvPr id="13" name="Shape 8"/>
          <p:cNvSpPr/>
          <p:nvPr/>
        </p:nvSpPr>
        <p:spPr>
          <a:xfrm>
            <a:off x="502920" y="3749040"/>
            <a:ext cx="411480" cy="411480"/>
          </a:xfrm>
          <a:prstGeom prst="ellipse">
            <a:avLst/>
          </a:prstGeom>
          <a:solidFill>
            <a:srgbClr val="CADCFC"/>
          </a:solidFill>
          <a:ln/>
        </p:spPr>
      </p:sp>
      <p:pic>
        <p:nvPicPr>
          <p:cNvPr id="14" name="Image 3" descr="/home/claude/icons/check.png"/>
          <p:cNvPicPr>
            <a:picLocks noChangeAspect="1"/>
          </p:cNvPicPr>
          <p:nvPr/>
        </p:nvPicPr>
        <p:blipFill>
          <a:blip r:embed="rId3"/>
          <a:stretch>
            <a:fillRect/>
          </a:stretch>
        </p:blipFill>
        <p:spPr>
          <a:xfrm>
            <a:off x="609905" y="3856025"/>
            <a:ext cx="197510" cy="197510"/>
          </a:xfrm>
          <a:prstGeom prst="rect">
            <a:avLst/>
          </a:prstGeom>
        </p:spPr>
      </p:pic>
      <p:sp>
        <p:nvSpPr>
          <p:cNvPr id="15" name="Text 9"/>
          <p:cNvSpPr/>
          <p:nvPr/>
        </p:nvSpPr>
        <p:spPr>
          <a:xfrm>
            <a:off x="1097280" y="3730752"/>
            <a:ext cx="10424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JSON-compliant output at every stage, ready for integration into larger academic platforms</a:t>
            </a:r>
            <a:endParaRPr lang="en-US" sz="1400" dirty="0"/>
          </a:p>
        </p:txBody>
      </p:sp>
      <p:sp>
        <p:nvSpPr>
          <p:cNvPr id="16" name="Shape 10"/>
          <p:cNvSpPr/>
          <p:nvPr/>
        </p:nvSpPr>
        <p:spPr>
          <a:xfrm>
            <a:off x="502920" y="4434840"/>
            <a:ext cx="411480" cy="411480"/>
          </a:xfrm>
          <a:prstGeom prst="ellipse">
            <a:avLst/>
          </a:prstGeom>
          <a:solidFill>
            <a:srgbClr val="CADCFC"/>
          </a:solidFill>
          <a:ln/>
        </p:spPr>
      </p:sp>
      <p:pic>
        <p:nvPicPr>
          <p:cNvPr id="17" name="Image 4" descr="/home/claude/icons/check.png"/>
          <p:cNvPicPr>
            <a:picLocks noChangeAspect="1"/>
          </p:cNvPicPr>
          <p:nvPr/>
        </p:nvPicPr>
        <p:blipFill>
          <a:blip r:embed="rId3"/>
          <a:stretch>
            <a:fillRect/>
          </a:stretch>
        </p:blipFill>
        <p:spPr>
          <a:xfrm>
            <a:off x="609905" y="4541825"/>
            <a:ext cx="197510" cy="197510"/>
          </a:xfrm>
          <a:prstGeom prst="rect">
            <a:avLst/>
          </a:prstGeom>
        </p:spPr>
      </p:pic>
      <p:sp>
        <p:nvSpPr>
          <p:cNvPr id="18" name="Text 11"/>
          <p:cNvSpPr/>
          <p:nvPr/>
        </p:nvSpPr>
        <p:spPr>
          <a:xfrm>
            <a:off x="1097280" y="4416552"/>
            <a:ext cx="10424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Strengthened practical skills in data parsing, algorithmic design, and structured output formatting</a:t>
            </a:r>
            <a:endParaRPr lang="en-US" sz="1400" dirty="0"/>
          </a:p>
        </p:txBody>
      </p:sp>
      <p:sp>
        <p:nvSpPr>
          <p:cNvPr id="19" name="Shape 12"/>
          <p:cNvSpPr/>
          <p:nvPr/>
        </p:nvSpPr>
        <p:spPr>
          <a:xfrm>
            <a:off x="502920" y="5120640"/>
            <a:ext cx="411480" cy="411480"/>
          </a:xfrm>
          <a:prstGeom prst="ellipse">
            <a:avLst/>
          </a:prstGeom>
          <a:solidFill>
            <a:srgbClr val="CADCFC"/>
          </a:solidFill>
          <a:ln/>
        </p:spPr>
      </p:sp>
      <p:pic>
        <p:nvPicPr>
          <p:cNvPr id="20" name="Image 5" descr="/home/claude/icons/check.png"/>
          <p:cNvPicPr>
            <a:picLocks noChangeAspect="1"/>
          </p:cNvPicPr>
          <p:nvPr/>
        </p:nvPicPr>
        <p:blipFill>
          <a:blip r:embed="rId3"/>
          <a:stretch>
            <a:fillRect/>
          </a:stretch>
        </p:blipFill>
        <p:spPr>
          <a:xfrm>
            <a:off x="609905" y="5227625"/>
            <a:ext cx="197510" cy="197510"/>
          </a:xfrm>
          <a:prstGeom prst="rect">
            <a:avLst/>
          </a:prstGeom>
        </p:spPr>
      </p:pic>
      <p:sp>
        <p:nvSpPr>
          <p:cNvPr id="21" name="Text 13"/>
          <p:cNvSpPr/>
          <p:nvPr/>
        </p:nvSpPr>
        <p:spPr>
          <a:xfrm>
            <a:off x="1097280" y="5102352"/>
            <a:ext cx="10424160" cy="50292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Completed the 8-week AICTE–EduSkills virtual internship with an “E – Excellent” grade</a:t>
            </a:r>
            <a:endParaRPr lang="en-US" sz="1400" dirty="0"/>
          </a:p>
        </p:txBody>
      </p:sp>
      <p:sp>
        <p:nvSpPr>
          <p:cNvPr id="22" name="Text 14"/>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Student Result Processing System  •  Shivam Singh</a:t>
            </a:r>
            <a:endParaRPr lang="en-US" sz="1000" dirty="0"/>
          </a:p>
        </p:txBody>
      </p:sp>
      <p:sp>
        <p:nvSpPr>
          <p:cNvPr id="23" name="Text 15"/>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02920" y="457200"/>
            <a:ext cx="5486400" cy="320040"/>
          </a:xfrm>
          <a:prstGeom prst="rect">
            <a:avLst/>
          </a:prstGeom>
          <a:noFill/>
          <a:ln/>
        </p:spPr>
        <p:txBody>
          <a:bodyPr wrap="square" rtlCol="0" anchor="ctr"/>
          <a:lstStyle/>
          <a:p>
            <a:pPr marL="0" indent="0">
              <a:buNone/>
            </a:pPr>
            <a:r>
              <a:rPr lang="en-US" sz="1200" b="1" kern="0" spc="200" dirty="0">
                <a:solidFill>
                  <a:srgbClr val="E8A93B"/>
                </a:solidFill>
                <a:latin typeface="Calibri" pitchFamily="34" charset="0"/>
                <a:ea typeface="Calibri" pitchFamily="34" charset="-122"/>
                <a:cs typeface="Calibri" pitchFamily="34" charset="-120"/>
              </a:rPr>
              <a:t>CERTIFICATION</a:t>
            </a:r>
            <a:endParaRPr lang="en-US" sz="1200" dirty="0"/>
          </a:p>
        </p:txBody>
      </p:sp>
      <p:sp>
        <p:nvSpPr>
          <p:cNvPr id="3" name="Text 1"/>
          <p:cNvSpPr/>
          <p:nvPr/>
        </p:nvSpPr>
        <p:spPr>
          <a:xfrm>
            <a:off x="484632" y="731520"/>
            <a:ext cx="54864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Successfully Completed</a:t>
            </a:r>
            <a:endParaRPr lang="en-US" sz="3000" dirty="0"/>
          </a:p>
        </p:txBody>
      </p:sp>
      <p:sp>
        <p:nvSpPr>
          <p:cNvPr id="4" name="Shape 2"/>
          <p:cNvSpPr/>
          <p:nvPr/>
        </p:nvSpPr>
        <p:spPr>
          <a:xfrm>
            <a:off x="502920" y="1691640"/>
            <a:ext cx="548640" cy="548640"/>
          </a:xfrm>
          <a:prstGeom prst="ellipse">
            <a:avLst/>
          </a:prstGeom>
          <a:solidFill>
            <a:srgbClr val="161C4D"/>
          </a:solidFill>
          <a:ln/>
        </p:spPr>
      </p:sp>
      <p:pic>
        <p:nvPicPr>
          <p:cNvPr id="5" name="Image 0" descr="/home/claude/icons/award_white.png"/>
          <p:cNvPicPr>
            <a:picLocks noChangeAspect="1"/>
          </p:cNvPicPr>
          <p:nvPr/>
        </p:nvPicPr>
        <p:blipFill>
          <a:blip r:embed="rId3"/>
          <a:stretch>
            <a:fillRect/>
          </a:stretch>
        </p:blipFill>
        <p:spPr>
          <a:xfrm>
            <a:off x="645566" y="1834286"/>
            <a:ext cx="263347" cy="263347"/>
          </a:xfrm>
          <a:prstGeom prst="rect">
            <a:avLst/>
          </a:prstGeom>
        </p:spPr>
      </p:pic>
      <p:sp>
        <p:nvSpPr>
          <p:cNvPr id="6" name="Text 3"/>
          <p:cNvSpPr/>
          <p:nvPr/>
        </p:nvSpPr>
        <p:spPr>
          <a:xfrm>
            <a:off x="1234440" y="1673352"/>
            <a:ext cx="4389120" cy="27432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Grade</a:t>
            </a:r>
            <a:endParaRPr lang="en-US" sz="1200" dirty="0"/>
          </a:p>
        </p:txBody>
      </p:sp>
      <p:sp>
        <p:nvSpPr>
          <p:cNvPr id="7" name="Text 4"/>
          <p:cNvSpPr/>
          <p:nvPr/>
        </p:nvSpPr>
        <p:spPr>
          <a:xfrm>
            <a:off x="1234440" y="1938528"/>
            <a:ext cx="4480560" cy="36576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E</a:t>
            </a:r>
            <a:r>
              <a:rPr lang="en-US" sz="1450">
                <a:solidFill>
                  <a:srgbClr val="FFFFFF"/>
                </a:solidFill>
                <a:latin typeface="Calibri" pitchFamily="34" charset="0"/>
                <a:ea typeface="Calibri" pitchFamily="34" charset="-122"/>
                <a:cs typeface="Calibri" pitchFamily="34" charset="-120"/>
              </a:rPr>
              <a:t> </a:t>
            </a:r>
            <a:r>
              <a:rPr lang="en-US" sz="1450" dirty="0">
                <a:solidFill>
                  <a:srgbClr val="FFFFFF"/>
                </a:solidFill>
                <a:latin typeface="Calibri" pitchFamily="34" charset="0"/>
                <a:ea typeface="Calibri" pitchFamily="34" charset="-122"/>
                <a:cs typeface="Calibri" pitchFamily="34" charset="-120"/>
              </a:rPr>
              <a:t>– Excellent</a:t>
            </a:r>
            <a:endParaRPr lang="en-US" sz="1450" dirty="0"/>
          </a:p>
        </p:txBody>
      </p:sp>
      <p:sp>
        <p:nvSpPr>
          <p:cNvPr id="8" name="Shape 5"/>
          <p:cNvSpPr/>
          <p:nvPr/>
        </p:nvSpPr>
        <p:spPr>
          <a:xfrm>
            <a:off x="502920" y="2624328"/>
            <a:ext cx="548640" cy="548640"/>
          </a:xfrm>
          <a:prstGeom prst="ellipse">
            <a:avLst/>
          </a:prstGeom>
          <a:solidFill>
            <a:srgbClr val="161C4D"/>
          </a:solidFill>
          <a:ln/>
        </p:spPr>
      </p:sp>
      <p:pic>
        <p:nvPicPr>
          <p:cNvPr id="9" name="Image 1" descr="/home/claude/icons/certificate_white.png"/>
          <p:cNvPicPr>
            <a:picLocks noChangeAspect="1"/>
          </p:cNvPicPr>
          <p:nvPr/>
        </p:nvPicPr>
        <p:blipFill>
          <a:blip r:embed="rId4"/>
          <a:stretch>
            <a:fillRect/>
          </a:stretch>
        </p:blipFill>
        <p:spPr>
          <a:xfrm>
            <a:off x="645566" y="2766974"/>
            <a:ext cx="263347" cy="263347"/>
          </a:xfrm>
          <a:prstGeom prst="rect">
            <a:avLst/>
          </a:prstGeom>
        </p:spPr>
      </p:pic>
      <p:sp>
        <p:nvSpPr>
          <p:cNvPr id="10" name="Text 6"/>
          <p:cNvSpPr/>
          <p:nvPr/>
        </p:nvSpPr>
        <p:spPr>
          <a:xfrm>
            <a:off x="1234440" y="2606040"/>
            <a:ext cx="4389120" cy="27432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Certificate ID</a:t>
            </a:r>
            <a:endParaRPr lang="en-US" sz="1200" dirty="0"/>
          </a:p>
        </p:txBody>
      </p:sp>
      <p:sp>
        <p:nvSpPr>
          <p:cNvPr id="11" name="Text 7"/>
          <p:cNvSpPr/>
          <p:nvPr/>
        </p:nvSpPr>
        <p:spPr>
          <a:xfrm>
            <a:off x="1234440" y="2871216"/>
            <a:ext cx="4480560" cy="36576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45bbba464b9237c90cbe</a:t>
            </a:r>
            <a:endParaRPr lang="en-US" sz="1450" dirty="0"/>
          </a:p>
        </p:txBody>
      </p:sp>
      <p:sp>
        <p:nvSpPr>
          <p:cNvPr id="12" name="Shape 8"/>
          <p:cNvSpPr/>
          <p:nvPr/>
        </p:nvSpPr>
        <p:spPr>
          <a:xfrm>
            <a:off x="502920" y="3557016"/>
            <a:ext cx="548640" cy="548640"/>
          </a:xfrm>
          <a:prstGeom prst="ellipse">
            <a:avLst/>
          </a:prstGeom>
          <a:solidFill>
            <a:srgbClr val="161C4D"/>
          </a:solidFill>
          <a:ln/>
        </p:spPr>
      </p:sp>
      <p:pic>
        <p:nvPicPr>
          <p:cNvPr id="13" name="Image 2" descr="/home/claude/icons/idbadge_white.png"/>
          <p:cNvPicPr>
            <a:picLocks noChangeAspect="1"/>
          </p:cNvPicPr>
          <p:nvPr/>
        </p:nvPicPr>
        <p:blipFill>
          <a:blip r:embed="rId5"/>
          <a:stretch>
            <a:fillRect/>
          </a:stretch>
        </p:blipFill>
        <p:spPr>
          <a:xfrm>
            <a:off x="645566" y="3699662"/>
            <a:ext cx="263347" cy="263347"/>
          </a:xfrm>
          <a:prstGeom prst="rect">
            <a:avLst/>
          </a:prstGeom>
        </p:spPr>
      </p:pic>
      <p:sp>
        <p:nvSpPr>
          <p:cNvPr id="14" name="Text 9"/>
          <p:cNvSpPr/>
          <p:nvPr/>
        </p:nvSpPr>
        <p:spPr>
          <a:xfrm>
            <a:off x="1234440" y="3538728"/>
            <a:ext cx="4389120" cy="27432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Student ID</a:t>
            </a:r>
            <a:endParaRPr lang="en-US" sz="1200" dirty="0"/>
          </a:p>
        </p:txBody>
      </p:sp>
      <p:sp>
        <p:nvSpPr>
          <p:cNvPr id="15" name="Text 10"/>
          <p:cNvSpPr/>
          <p:nvPr/>
        </p:nvSpPr>
        <p:spPr>
          <a:xfrm>
            <a:off x="1234440" y="3803904"/>
            <a:ext cx="4480560" cy="36576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STU6996b21ed25cd1771483678</a:t>
            </a:r>
            <a:endParaRPr lang="en-US" sz="1450" dirty="0"/>
          </a:p>
        </p:txBody>
      </p:sp>
      <p:sp>
        <p:nvSpPr>
          <p:cNvPr id="16" name="Shape 11"/>
          <p:cNvSpPr/>
          <p:nvPr/>
        </p:nvSpPr>
        <p:spPr>
          <a:xfrm>
            <a:off x="502920" y="4489704"/>
            <a:ext cx="548640" cy="548640"/>
          </a:xfrm>
          <a:prstGeom prst="ellipse">
            <a:avLst/>
          </a:prstGeom>
          <a:solidFill>
            <a:srgbClr val="161C4D"/>
          </a:solidFill>
          <a:ln/>
        </p:spPr>
      </p:sp>
      <p:pic>
        <p:nvPicPr>
          <p:cNvPr id="17" name="Image 3" descr="/home/claude/icons/calendar_white.png"/>
          <p:cNvPicPr>
            <a:picLocks noChangeAspect="1"/>
          </p:cNvPicPr>
          <p:nvPr/>
        </p:nvPicPr>
        <p:blipFill>
          <a:blip r:embed="rId6"/>
          <a:stretch>
            <a:fillRect/>
          </a:stretch>
        </p:blipFill>
        <p:spPr>
          <a:xfrm>
            <a:off x="645566" y="4632350"/>
            <a:ext cx="263347" cy="263347"/>
          </a:xfrm>
          <a:prstGeom prst="rect">
            <a:avLst/>
          </a:prstGeom>
        </p:spPr>
      </p:pic>
      <p:sp>
        <p:nvSpPr>
          <p:cNvPr id="18" name="Text 12"/>
          <p:cNvSpPr/>
          <p:nvPr/>
        </p:nvSpPr>
        <p:spPr>
          <a:xfrm>
            <a:off x="1234440" y="4471416"/>
            <a:ext cx="4389120" cy="274320"/>
          </a:xfrm>
          <a:prstGeom prst="rect">
            <a:avLst/>
          </a:prstGeom>
          <a:noFill/>
          <a:ln/>
        </p:spPr>
        <p:txBody>
          <a:bodyPr wrap="square" rtlCol="0" anchor="ctr"/>
          <a:lstStyle/>
          <a:p>
            <a:pPr marL="0" indent="0">
              <a:buNone/>
            </a:pPr>
            <a:r>
              <a:rPr lang="en-US" sz="1200" b="1" dirty="0">
                <a:solidFill>
                  <a:srgbClr val="CADCFC"/>
                </a:solidFill>
                <a:latin typeface="Calibri" pitchFamily="34" charset="0"/>
                <a:ea typeface="Calibri" pitchFamily="34" charset="-122"/>
                <a:cs typeface="Calibri" pitchFamily="34" charset="-120"/>
              </a:rPr>
              <a:t>Duration</a:t>
            </a:r>
            <a:endParaRPr lang="en-US" sz="1200" dirty="0"/>
          </a:p>
        </p:txBody>
      </p:sp>
      <p:sp>
        <p:nvSpPr>
          <p:cNvPr id="19" name="Text 13"/>
          <p:cNvSpPr/>
          <p:nvPr/>
        </p:nvSpPr>
        <p:spPr>
          <a:xfrm>
            <a:off x="1234440" y="4736592"/>
            <a:ext cx="4480560" cy="365760"/>
          </a:xfrm>
          <a:prstGeom prst="rect">
            <a:avLst/>
          </a:prstGeom>
          <a:noFill/>
          <a:ln/>
        </p:spPr>
        <p:txBody>
          <a:bodyPr wrap="square" rtlCol="0" anchor="ctr"/>
          <a:lstStyle/>
          <a:p>
            <a:pPr marL="0" indent="0">
              <a:buNone/>
            </a:pPr>
            <a:r>
              <a:rPr lang="en-US" sz="1450" dirty="0">
                <a:solidFill>
                  <a:srgbClr val="FFFFFF"/>
                </a:solidFill>
                <a:latin typeface="Calibri" pitchFamily="34" charset="0"/>
                <a:ea typeface="Calibri" pitchFamily="34" charset="-122"/>
                <a:cs typeface="Calibri" pitchFamily="34" charset="-120"/>
              </a:rPr>
              <a:t>8 Weeks | June – August 2026</a:t>
            </a:r>
            <a:endParaRPr lang="en-US" sz="1450" dirty="0"/>
          </a:p>
        </p:txBody>
      </p:sp>
      <p:sp>
        <p:nvSpPr>
          <p:cNvPr id="20" name="Shape 14"/>
          <p:cNvSpPr/>
          <p:nvPr/>
        </p:nvSpPr>
        <p:spPr>
          <a:xfrm>
            <a:off x="6903720" y="777240"/>
            <a:ext cx="4800600" cy="5440680"/>
          </a:xfrm>
          <a:prstGeom prst="roundRect">
            <a:avLst>
              <a:gd name="adj" fmla="val 762"/>
            </a:avLst>
          </a:prstGeom>
          <a:solidFill>
            <a:srgbClr val="FFFFFF"/>
          </a:solidFill>
          <a:ln/>
          <a:effectLst>
            <a:outerShdw blurRad="127000" dist="38100" dir="5400000" algn="bl" rotWithShape="0">
              <a:srgbClr val="000000">
                <a:alpha val="35000"/>
              </a:srgbClr>
            </a:outerShdw>
          </a:effectLst>
        </p:spPr>
      </p:sp>
      <p:pic>
        <p:nvPicPr>
          <p:cNvPr id="21" name="Image 4" descr="/home/claude/docx_extract/extracted/word/media/image2.jpeg"/>
          <p:cNvPicPr>
            <a:picLocks noChangeAspect="1"/>
          </p:cNvPicPr>
          <p:nvPr/>
        </p:nvPicPr>
        <p:blipFill>
          <a:blip r:embed="rId7"/>
          <a:stretch>
            <a:fillRect/>
          </a:stretch>
        </p:blipFill>
        <p:spPr>
          <a:xfrm>
            <a:off x="7086600" y="960120"/>
            <a:ext cx="4434840" cy="5074920"/>
          </a:xfrm>
          <a:prstGeom prst="rect">
            <a:avLst/>
          </a:prstGeom>
        </p:spPr>
      </p:pic>
      <p:sp>
        <p:nvSpPr>
          <p:cNvPr id="22" name="Text 15"/>
          <p:cNvSpPr/>
          <p:nvPr/>
        </p:nvSpPr>
        <p:spPr>
          <a:xfrm>
            <a:off x="457200" y="6473952"/>
            <a:ext cx="6400800" cy="27432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Student Result Processing System  •  Shivam Singh</a:t>
            </a:r>
            <a:endParaRPr lang="en-US" sz="1000" dirty="0"/>
          </a:p>
        </p:txBody>
      </p:sp>
      <p:sp>
        <p:nvSpPr>
          <p:cNvPr id="23" name="Text 1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645920" y="3840480"/>
            <a:ext cx="4754880" cy="4754880"/>
          </a:xfrm>
          <a:prstGeom prst="ellipse">
            <a:avLst/>
          </a:prstGeom>
          <a:solidFill>
            <a:srgbClr val="161C4D"/>
          </a:solidFill>
          <a:ln/>
        </p:spPr>
      </p:sp>
      <p:sp>
        <p:nvSpPr>
          <p:cNvPr id="3" name="Shape 1"/>
          <p:cNvSpPr/>
          <p:nvPr/>
        </p:nvSpPr>
        <p:spPr>
          <a:xfrm>
            <a:off x="9966960" y="-2011680"/>
            <a:ext cx="5486400" cy="5486400"/>
          </a:xfrm>
          <a:prstGeom prst="ellipse">
            <a:avLst/>
          </a:prstGeom>
          <a:solidFill>
            <a:srgbClr val="161C4D"/>
          </a:solidFill>
          <a:ln/>
        </p:spPr>
      </p:sp>
      <p:pic>
        <p:nvPicPr>
          <p:cNvPr id="4" name="Image 0" descr="/home/claude/docx_extract/extracted/word/media/image1.png"/>
          <p:cNvPicPr>
            <a:picLocks noChangeAspect="1"/>
          </p:cNvPicPr>
          <p:nvPr/>
        </p:nvPicPr>
        <p:blipFill>
          <a:blip r:embed="rId3"/>
          <a:stretch>
            <a:fillRect/>
          </a:stretch>
        </p:blipFill>
        <p:spPr>
          <a:xfrm>
            <a:off x="5728716" y="1417320"/>
            <a:ext cx="731520" cy="822960"/>
          </a:xfrm>
          <a:prstGeom prst="rect">
            <a:avLst/>
          </a:prstGeom>
        </p:spPr>
      </p:pic>
      <p:sp>
        <p:nvSpPr>
          <p:cNvPr id="5" name="Text 2"/>
          <p:cNvSpPr/>
          <p:nvPr/>
        </p:nvSpPr>
        <p:spPr>
          <a:xfrm>
            <a:off x="0" y="2606040"/>
            <a:ext cx="12188952" cy="91440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6" name="Text 3"/>
          <p:cNvSpPr/>
          <p:nvPr/>
        </p:nvSpPr>
        <p:spPr>
          <a:xfrm>
            <a:off x="0" y="3474720"/>
            <a:ext cx="12188952" cy="365760"/>
          </a:xfrm>
          <a:prstGeom prst="rect">
            <a:avLst/>
          </a:prstGeom>
          <a:noFill/>
          <a:ln/>
        </p:spPr>
        <p:txBody>
          <a:bodyPr wrap="square" rtlCol="0" anchor="ctr"/>
          <a:lstStyle/>
          <a:p>
            <a:pPr marL="0" indent="0" algn="ctr">
              <a:buNone/>
            </a:pPr>
            <a:r>
              <a:rPr lang="en-US" sz="1400" dirty="0">
                <a:solidFill>
                  <a:srgbClr val="CADCFC"/>
                </a:solidFill>
                <a:latin typeface="Calibri" pitchFamily="34" charset="0"/>
                <a:ea typeface="Calibri" pitchFamily="34" charset="-122"/>
                <a:cs typeface="Calibri" pitchFamily="34" charset="-120"/>
              </a:rPr>
              <a:t>Student Result Processing System  |  AICTE – EduSkills Program</a:t>
            </a:r>
            <a:endParaRPr lang="en-US" sz="1400" dirty="0"/>
          </a:p>
        </p:txBody>
      </p:sp>
      <p:sp>
        <p:nvSpPr>
          <p:cNvPr id="7" name="Shape 4"/>
          <p:cNvSpPr/>
          <p:nvPr/>
        </p:nvSpPr>
        <p:spPr>
          <a:xfrm>
            <a:off x="5500116" y="4023360"/>
            <a:ext cx="1188720" cy="0"/>
          </a:xfrm>
          <a:prstGeom prst="line">
            <a:avLst/>
          </a:prstGeom>
          <a:noFill/>
          <a:ln w="31750">
            <a:solidFill>
              <a:srgbClr val="E8A93B"/>
            </a:solidFill>
            <a:prstDash val="solid"/>
          </a:ln>
        </p:spPr>
      </p:sp>
      <p:sp>
        <p:nvSpPr>
          <p:cNvPr id="8" name="Text 5"/>
          <p:cNvSpPr/>
          <p:nvPr/>
        </p:nvSpPr>
        <p:spPr>
          <a:xfrm>
            <a:off x="0" y="4206240"/>
            <a:ext cx="12188952" cy="3200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Shivam Singh</a:t>
            </a:r>
            <a:endParaRPr lang="en-US" sz="1600" dirty="0"/>
          </a:p>
        </p:txBody>
      </p:sp>
      <p:sp>
        <p:nvSpPr>
          <p:cNvPr id="9" name="Text 6"/>
          <p:cNvSpPr/>
          <p:nvPr/>
        </p:nvSpPr>
        <p:spPr>
          <a:xfrm>
            <a:off x="0" y="4526280"/>
            <a:ext cx="12188952" cy="320040"/>
          </a:xfrm>
          <a:prstGeom prst="rect">
            <a:avLst/>
          </a:prstGeom>
          <a:noFill/>
          <a:ln/>
        </p:spPr>
        <p:txBody>
          <a:bodyPr wrap="square" rtlCol="0" anchor="ctr"/>
          <a:lstStyle/>
          <a:p>
            <a:pPr marL="0" indent="0" algn="ctr">
              <a:buNone/>
            </a:pPr>
            <a:r>
              <a:rPr lang="en-US" sz="1200" dirty="0">
                <a:solidFill>
                  <a:srgbClr val="CADCFC"/>
                </a:solidFill>
                <a:latin typeface="Calibri" pitchFamily="34" charset="0"/>
                <a:ea typeface="Calibri" pitchFamily="34" charset="-122"/>
                <a:cs typeface="Calibri" pitchFamily="34" charset="-120"/>
              </a:rPr>
              <a:t>Roll No. 2410030363  |  IILM University, Greater Noida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860</Words>
  <Application>Microsoft Office PowerPoint</Application>
  <PresentationFormat>Widescreen</PresentationFormat>
  <Paragraphs>174</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Shivam Singh</cp:lastModifiedBy>
  <cp:revision>3</cp:revision>
  <dcterms:created xsi:type="dcterms:W3CDTF">2026-08-30T09:01:31Z</dcterms:created>
  <dcterms:modified xsi:type="dcterms:W3CDTF">2026-08-30T09:41:30Z</dcterms:modified>
</cp:coreProperties>
</file>